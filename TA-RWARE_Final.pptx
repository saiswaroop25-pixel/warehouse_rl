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28032"/>
            <a:ext cx="9144000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384048"/>
            <a:ext cx="2194560" cy="310896"/>
          </a:xfrm>
          <a:prstGeom prst="roundRect">
            <a:avLst>
              <a:gd name="adj" fmla="val 14706"/>
            </a:avLst>
          </a:prstGeom>
          <a:solidFill>
            <a:srgbClr val="0D7377">
              <a:alpha val="65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3840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23AID312  ·  Team 10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5488" y="8046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75488" y="1792224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B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Task-Allocation Reinforcement Learning for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B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Autonomous Routing &amp; Execution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75488" y="2633472"/>
            <a:ext cx="475488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7249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Deep Reinforcement Learning  ·  Dueling DQN  ·  Heterogeneous AGV &amp; Picker Coordination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3163824"/>
            <a:ext cx="192024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2004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" y="3685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AGVs+Pickers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78608" y="3163824"/>
            <a:ext cx="192024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32004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78608" y="3685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Env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81728" y="3163824"/>
            <a:ext cx="192024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32004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81728" y="3685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3163824"/>
            <a:ext cx="192024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32004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Eps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84848" y="3685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4846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Project Evaluation  |  May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Project Goals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Problem Statement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50292" cy="64008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7955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Suboptimal Human Dispatching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" y="10607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allocation fails to adapt to dynamic order queues — causing idle AGVs, missed deadlines, and inefficient routing.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636776"/>
            <a:ext cx="50292" cy="64008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6824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&amp; Charging Conflicts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" y="19476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AGVs must balance order execution with proactive charging; greedy approaches cause battery depletion and fleet bottlenecks.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523744"/>
            <a:ext cx="50292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5694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" y="28346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fleets (AGVs + pickers) require cooperative scheduling; rigid heuristics cannot generalise to dynamic demand.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410712"/>
            <a:ext cx="50292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4564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&amp; Delayed Reward Signal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" y="37216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RL fails with sparse rewards. Auto-pickup/drop and progress shaping are critical for stable DQN convergence.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713232"/>
            <a:ext cx="32461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77840" y="713232"/>
            <a:ext cx="324612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05856" y="850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05856" y="1234440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05856" y="1234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98464" y="12344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configurable grid-world warehouse env with battery dynamics &amp; order queues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05856" y="1892808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05856" y="1892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98464" y="189280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Dueling DQN for heterogeneous AGV + picker coordination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05856" y="2551176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05856" y="2551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98464" y="255117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auto-pickup/drop to remove the ACT-action bottleneck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05856" y="3209544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05856" y="32095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98464" y="320954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DQN against greedy &amp; random baselines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05856" y="3867912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05856" y="3867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98464" y="38679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Streamlit dashboard for live simulation &amp; policy comparison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Foundations with Links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Literature Survey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676656"/>
          <a:ext cx="8814816" cy="4224528"/>
        </p:xfrm>
        <a:graphic>
          <a:graphicData uri="http://schemas.openxmlformats.org/drawingml/2006/table">
            <a:tbl>
              <a:tblPr/>
              <a:tblGrid>
                <a:gridCol w="182880"/>
                <a:gridCol w="914400"/>
                <a:gridCol w="1600200"/>
                <a:gridCol w="749808"/>
                <a:gridCol w="1965960"/>
                <a:gridCol w="1572768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Authors/Year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Title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Relevance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Mnih et al.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(2015)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Human-Level Control via Deep RL (DQN)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518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end-to-end DRL with replay buffer &amp; target net — foundational for our agent.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Single-agent only; no logistics/battery.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abs/1312.5602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(2016)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Dueling Network Architectures for Deep RL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ICML 2016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V+A decomposition for better state-value estimation — directly used as TA-RWARE backbone.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Atari only; no MARL/warehouse.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abs/1511.06581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 Hasselt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al. (2016)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RL with Double Q-Learning (DDQN)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AAAI 2016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Decouples action selection &amp; evaluation to cut Q overestimation — used in target updates.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cooperative MARL.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abs/1509.06461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Schaul et al.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(2016)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Prioritized Experience Replay (PER)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ICLR 2016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TD-error priority sampling — direct future upgrade for rare delivery events in TA-RWARE.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use uniform replay; PER is planned.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abs/1511.05952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Christianos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al. (2020)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SEAC + RWARE Benchmark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2020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RWARE grid-warehouse env for MARL — directly inspired our environment design.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AC; off-policy DQN unexplored.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abs/2006.07169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Papoudakis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al. (2021)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 MARL Algorithms (LBF &amp; RWARE)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D&amp;B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Standardised MARL eval — informed our greedy/random baseline evaluation protocol.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battery/picker heterogeneity.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abs/2006.14884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Krnjaic et al.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(2022)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 MARL for Warehouse Logistics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2212.11498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MARL for AGV + human picker fleets — closest prior work to TA-RWARE.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battery; no dashboard; uses AC.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abs/2212.11498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Gankin et al.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(2022)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DQN for AGV Routing in Mfg.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Front. Robotics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2022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DQN + replay for grid AGV routing — validates DQN approach for logistics.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 type; no pickers.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doi.org/10.3389/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frobt.2022.1027340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 et al.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(2023)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Energy-Efficient Routing of AGVs via MARL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MDPI/PMC 2023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MARL with energy-minimisation for AGV routing — motivates battery reward design.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order picking or reward shaping.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ncbi.nlm.nih.gov/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pmc/PMC10047393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Löffler et al.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(2022)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Picker Routing in AGV-Assisted Order Picking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J.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 2022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picker-AGV routing — motivates picker service-radius reward in TA-RWARE.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approach; not RL-based.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doi.org/10.1287/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ijoc.2021.1104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DRL Formulation &amp; Component Pipeline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System Architecture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1168" y="676656"/>
            <a:ext cx="331012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676656"/>
            <a:ext cx="3310128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795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Formulation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" y="1143000"/>
            <a:ext cx="987552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14300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71600" y="1152144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57-dim vector per agent: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battery, carrying flag,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δ(x,y), pending orders,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local grid view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29184" y="1755648"/>
            <a:ext cx="3063240" cy="9144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" y="1801368"/>
            <a:ext cx="987552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80136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371600" y="1810512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5:  N / S / E / W / WAIT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&amp; Drop auto-trigger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cell arrival (no ACT needed)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29184" y="2414016"/>
            <a:ext cx="3063240" cy="9144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" y="2459736"/>
            <a:ext cx="987552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245973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 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71600" y="246888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+32, Pickup +8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+0.6/unit closer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Move-away −1.2, Collision −1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bonus +55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29184" y="3072384"/>
            <a:ext cx="3063240" cy="9144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" y="3118104"/>
            <a:ext cx="987552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311810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γ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71600" y="312724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 — balances long delivery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with battery management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29184" y="3730752"/>
            <a:ext cx="3063240" cy="9144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" y="3776472"/>
            <a:ext cx="987552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377647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 π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371600" y="3785616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DQN, ε-greedy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ε: 1.0 → 0.05 (decay 0.9985)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703320" y="676656"/>
            <a:ext cx="1572768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58184" y="7498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58184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5×7 grid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racks·goals·chargers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5422392" y="676656"/>
            <a:ext cx="1572768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77256" y="7498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77256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57-dim per agent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view + orders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7141464" y="676656"/>
            <a:ext cx="1572768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196328" y="7498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96328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V+A → Q(s,a)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7141464" y="1755648"/>
            <a:ext cx="1572768" cy="914400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196328" y="18288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96328" y="22494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 transitions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sampling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5422392" y="1755648"/>
            <a:ext cx="1572768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77256" y="18288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77256" y="22494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actions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eval modes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3703320" y="1755648"/>
            <a:ext cx="1572768" cy="914400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758184" y="18288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758184" y="22494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TensorBoard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artifacts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3703320" y="2834640"/>
            <a:ext cx="1572768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758184" y="29077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758184" y="33284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animation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comparison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5422392" y="2834640"/>
            <a:ext cx="1572768" cy="9144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477256" y="29077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77256" y="33284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Manhattan-distance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7141464" y="2834640"/>
            <a:ext cx="1572768" cy="914400"/>
          </a:xfrm>
          <a:prstGeom prst="rect">
            <a:avLst/>
          </a:prstGeom>
          <a:solidFill>
            <a:srgbClr val="2D7A55"/>
          </a:solidFill>
          <a:ln w="12700">
            <a:solidFill>
              <a:srgbClr val="2D7A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196328" y="29077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196328" y="33284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vs Greedy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Random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5276088" y="1051560"/>
            <a:ext cx="320040" cy="164592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95160" y="1051560"/>
            <a:ext cx="320040" cy="164592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45552" y="1591056"/>
            <a:ext cx="164592" cy="164592"/>
          </a:xfrm>
          <a:prstGeom prst="down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95160" y="2130552"/>
            <a:ext cx="320040" cy="164592"/>
          </a:xfrm>
          <a:prstGeom prst="lef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76088" y="2130552"/>
            <a:ext cx="320040" cy="164592"/>
          </a:xfrm>
          <a:prstGeom prst="lef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07408" y="2670048"/>
            <a:ext cx="164592" cy="164592"/>
          </a:xfrm>
          <a:prstGeom prst="down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95160" y="3209544"/>
            <a:ext cx="320040" cy="164592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85232" y="87782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7726680" y="1444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 rot="16200000">
            <a:off x="3511296" y="9966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Interact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 rot="16200000">
            <a:off x="3511296" y="20756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Learn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 rot="16200000">
            <a:off x="3511296" y="3154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Evaluate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01168" y="3858768"/>
            <a:ext cx="8741664" cy="1024128"/>
          </a:xfrm>
          <a:prstGeom prst="rect">
            <a:avLst/>
          </a:prstGeom>
          <a:solidFill>
            <a:srgbClr val="EBF4F5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2608" y="3931920"/>
            <a:ext cx="50292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4048" y="39593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Override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84048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battery &lt; 20%, DQN is bypassed and agent routes to nearest charger automatically.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468880" y="3931920"/>
            <a:ext cx="50292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560320" y="39593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Learners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560320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5 agents owns its own DQNAgent. No weight sharing — CTDE is future work.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645152" y="3931920"/>
            <a:ext cx="50292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36592" y="39593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Auto-Pickup/Drop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736592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Stepping onto rack/goal triggers pickup/drop — no ACT action needed. Densifies rewards.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821424" y="3931920"/>
            <a:ext cx="50292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912864" y="39593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Injection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912864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orders arrive every 120 steps. Queue size 5. Nearest-first AGV assignment.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— Value &amp; Advantage Decomposition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DNN Architecture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1170432" cy="1965960"/>
          </a:xfrm>
          <a:prstGeom prst="rect">
            <a:avLst/>
          </a:prstGeom>
          <a:solidFill>
            <a:srgbClr val="EBF4F5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" y="822960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335024"/>
            <a:ext cx="987552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3716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∈ ℝ⁵⁷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1664208"/>
            <a:ext cx="1042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57-dimensional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99032" y="1568196"/>
            <a:ext cx="320040" cy="164592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7632" y="749808"/>
            <a:ext cx="1170432" cy="1965960"/>
          </a:xfrm>
          <a:prstGeom prst="rect">
            <a:avLst/>
          </a:prstGeom>
          <a:solidFill>
            <a:srgbClr val="1A2E4A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91640" y="822960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256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+ReLU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19072" y="1335024"/>
            <a:ext cx="987552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13716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91640" y="1664208"/>
            <a:ext cx="1042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neurons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init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98064" y="1568196"/>
            <a:ext cx="320040" cy="164592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26664" y="749808"/>
            <a:ext cx="1170432" cy="1965960"/>
          </a:xfrm>
          <a:prstGeom prst="rect">
            <a:avLst/>
          </a:prstGeom>
          <a:solidFill>
            <a:srgbClr val="1A2E4A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90672" y="822960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+ReLU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18104" y="1335024"/>
            <a:ext cx="987552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0672" y="13716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90672" y="1664208"/>
            <a:ext cx="1042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neurons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init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97096" y="1732788"/>
            <a:ext cx="4114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8576" y="1207008"/>
            <a:ext cx="0" cy="132588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08576" y="1207008"/>
            <a:ext cx="36576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8576" y="2368296"/>
            <a:ext cx="365760" cy="0"/>
          </a:xfrm>
          <a:prstGeom prst="line">
            <a:avLst/>
          </a:prstGeom>
          <a:noFill/>
          <a:ln w="25400">
            <a:solidFill>
              <a:srgbClr val="1A2E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749808"/>
            <a:ext cx="141732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804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11155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 + ReLU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V(s) ∈ ℝ¹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46320" y="1911096"/>
            <a:ext cx="1417320" cy="8046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STREAM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22768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 + ReLU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A(s,a) ∈ ℝ⁵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63640" y="1152144"/>
            <a:ext cx="0" cy="502920"/>
          </a:xfrm>
          <a:prstGeom prst="line">
            <a:avLst/>
          </a:prstGeom>
          <a:noFill/>
          <a:ln w="19050">
            <a:solidFill>
              <a:srgbClr val="D0E4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2313432"/>
            <a:ext cx="0" cy="-502920"/>
          </a:xfrm>
          <a:prstGeom prst="line">
            <a:avLst/>
          </a:prstGeom>
          <a:noFill/>
          <a:ln w="19050">
            <a:solidFill>
              <a:srgbClr val="D0E4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1650492"/>
            <a:ext cx="347472" cy="164592"/>
          </a:xfrm>
          <a:prstGeom prst="rightArrow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11112" y="1069848"/>
            <a:ext cx="1536192" cy="1207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611112" y="117043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 a)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611112" y="160020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V(s) + A(s,a)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mean(A)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11112" y="201168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→ action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17136" y="15316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01168" y="2834640"/>
            <a:ext cx="8741664" cy="292608"/>
          </a:xfrm>
          <a:prstGeom prst="rect">
            <a:avLst/>
          </a:prstGeom>
          <a:solidFill>
            <a:srgbClr val="EBF4F5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28529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 a)  =  V(s)  +  ( A(s, a)  −  mean_{a'} [ A(s, a') ] 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01168" y="3246120"/>
            <a:ext cx="160934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01168" y="3246120"/>
            <a:ext cx="1609344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" y="33649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3464" y="3767328"/>
            <a:ext cx="1444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target nets synced every 300 steps. Prevents Q overestimation via decoupled selection &amp; evaluation.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920240" y="3246120"/>
            <a:ext cx="160934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920240" y="3246120"/>
            <a:ext cx="1609344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02536" y="33649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02536" y="3767328"/>
            <a:ext cx="1444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Linear layers: uniform Xavier init, zero bias. Prevents vanishing/exploding gradients on sparse rewards.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39312" y="3246120"/>
            <a:ext cx="160934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39312" y="3246120"/>
            <a:ext cx="1609344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21608" y="33649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(SmoothL1)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721608" y="3767328"/>
            <a:ext cx="1444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large TD errors. Robust to early instability &amp; rare high-reward events (team bonus +55).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58384" y="3246120"/>
            <a:ext cx="160934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358384" y="3246120"/>
            <a:ext cx="1609344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40680" y="33649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@ 1.0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40680" y="3767328"/>
            <a:ext cx="1444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Norm-clipped backprop prevents parameter explosion on sudden delivery reward spikes.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077456" y="3246120"/>
            <a:ext cx="160934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077456" y="3246120"/>
            <a:ext cx="1609344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59752" y="336499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159752" y="3767328"/>
            <a:ext cx="1444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a DQNAgent (identical shape). No shared weights — enables future CTDE upgrade.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Part 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Environment, Enums &amp; Observation Vector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Impl  1/3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1168" y="676656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676656"/>
            <a:ext cx="420624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786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WarehouseEnv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" y="10789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envs/warehouse_env.py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" y="1298448"/>
            <a:ext cx="3950208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3167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grid: np.ndarray(H×W)  — Cell enum values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1847088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agents: List[Agent]  (AGVs + Pickers)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121408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orders: List[Order]  — created dynamically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395728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rack_cells, goal_cells, charge_cells: List[tuple]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670048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batt_cap=280  batt_lo=0.20  bd_move=0.4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9184" y="2980944"/>
            <a:ext cx="3950208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29992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255264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reset(seed) → List[obs], info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3529584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step(actions) → obs, rews, term, trunc, info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803904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_observe(idx) → np.float32[57]  (full obs vector)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078224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_assign_orders()  nearest-first AGV↔order match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4352544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_build_grid()  walls + rack/goal/charge layout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90288" y="676656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676656"/>
            <a:ext cx="4206240" cy="45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&amp; Dataclasses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18304" y="1088136"/>
            <a:ext cx="39319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115214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33872" y="11521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 WALL  RACK  GOAL  CHARGE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18304" y="1408176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AgentType: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33872" y="14081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AGV=0  PICKER=1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18304" y="166420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33872" y="16642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 TO_PICKUP  TO_GOAL  CHARGING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18304" y="192024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33872" y="1920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rack_pos, goal_pos, agv_id, done, timestamps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18304" y="2176272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33872" y="21762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type, pos, phase, order, battery, metrics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90288" y="2724912"/>
            <a:ext cx="420624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90288" y="2724912"/>
            <a:ext cx="4206240" cy="45720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Vector — 57 Dimensions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18304" y="3136392"/>
            <a:ext cx="39319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320040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 (5):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43600" y="3200400"/>
            <a:ext cx="2724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state: pos_x, pos_y, battery, carrying, phase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18304" y="347472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 (3):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43600" y="3474720"/>
            <a:ext cx="2724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δx, δy, Manhattan dist to target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18304" y="374904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8–11 (4):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943600" y="3749040"/>
            <a:ext cx="2724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rack + goal coords (or picker target)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18304" y="402336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12–19 (8):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943600" y="4023360"/>
            <a:ext cx="2724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pending order rack positions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18304" y="429768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20–31 (12):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43600" y="4297680"/>
            <a:ext cx="2724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nearest agents: δx, δy, carrying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18304" y="457200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32–56 (25):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43600" y="4572000"/>
            <a:ext cx="2724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5×5 grid perception (cell type/5.0)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Part 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Agent, Dueling Network &amp; Replay Buffer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Impl  2/3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1168" y="676656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676656"/>
            <a:ext cx="4206240" cy="45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786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" y="10789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agents/dqn_agent.py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" y="1298448"/>
            <a:ext cx="3950208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3167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policy: DuelingDQN  (action selection)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1847088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target: DuelingDQN  (stable bootstrap targets)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121408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buf: ReplayBuffer(capacity=30,000)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395728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ε: 1.0→0.05  decay=0.9985  per episode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670048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γ=0.97  lr=0.0005  batch=64  tgt_upd=300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9184" y="2980944"/>
            <a:ext cx="3950208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29992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255264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act(state, train) → int  (ε-greedy or greedy)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3529584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store(s,a,r,s2,done) → push to ReplayBuffer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803904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learn() → {loss, q}  (Double DQN update step)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078224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decay_eps()  ε ← max(ε_end, ε × 0.9985)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4352544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save/load(path)  policy, target, opt, eps dict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90288" y="676656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676656"/>
            <a:ext cx="420624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DuelingDQN  (agents/network.py)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18304" y="1088136"/>
            <a:ext cx="39319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115214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shared: Sequential  Linear(in,256)→ReLU→Linear(256,128)→ReLU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18304" y="142646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value:  Sequential  Linear(128,64)→ReLU→Linear(64,1)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18304" y="170078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adv:    Sequential  Linear(128,64)→ReLU→Linear(64,5)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18304" y="197510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forward(x) → V(s)+(A(s,a)−mean_a'[A])  Q-values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18304" y="22494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act(x) → argmax Q  (torch.no_grad, inference only)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90288" y="3090672"/>
            <a:ext cx="42062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90288" y="3090672"/>
            <a:ext cx="4206240" cy="45720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ReplayBuffer  (agents/replay_buffer.py)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18304" y="3502152"/>
            <a:ext cx="39319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56616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buf: deque(maxlen=30,000)  — circular ring buffer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18304" y="384048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push(s,a,r,s2,done)  stores float32 numpy arrays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18304" y="411480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sample(64) → (s,a,r,s2,d) as CUDA/CPU tensors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18304" y="438912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ready(bs) → bool  blocks learning until buf ≥ bs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Part 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Loop, Logger &amp; Streamlit Dashboard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Impl  3/3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1168" y="676656"/>
            <a:ext cx="4206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676656"/>
            <a:ext cx="4206240" cy="45720"/>
          </a:xfrm>
          <a:prstGeom prst="rect">
            <a:avLst/>
          </a:prstGeom>
          <a:solidFill>
            <a:srgbClr val="2D7A55"/>
          </a:solidFill>
          <a:ln w="12700">
            <a:solidFill>
              <a:srgbClr val="2D7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786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 — Training Loop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" y="1069848"/>
            <a:ext cx="3950208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155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 in range(3000):  reset env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65760" y="13533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acts = [dqns[i].act(obs[i], train=True)]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65760" y="15910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obs,rews,term,trunc,info = env.step(acts)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65760" y="18288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dqns[i].store(obs,act,rew,next_obs,done)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65760" y="20665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step%update_freq==0: dqns[i].learn()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65760" y="23042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dqns[i].decay_eps()  # after episode end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65760" y="25420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ep%eval_freq==0: eval_run() → save best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01168" y="2962656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962656"/>
            <a:ext cx="4206240" cy="45720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3072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 (utils/logger.py)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" y="3355848"/>
            <a:ext cx="3950208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1071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log_ep(ep,m)  — rewards, deliveries, epsilon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368503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log_train(step,loss,q)  — diagnostics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395935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agent_episode_metrics: reward, dist, collisions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423367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_write_json() → logs/metrics.json every 10 eps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450799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TensorboardX writer (optional) for live charts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90288" y="676656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0288" y="676656"/>
            <a:ext cx="420624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786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 (streamlit_app.py)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18304" y="1069848"/>
            <a:ext cx="39319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18304" y="1133856"/>
            <a:ext cx="1143000" cy="2377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113385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 — Run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07024" y="1152144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model dir + config. Choose DQN/Greedy/Random. Click Run → animated warehouse renders every N steps with progress bar, reward/delivery/battery charts.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18304" y="1737360"/>
            <a:ext cx="1143000" cy="2377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17373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 — Compare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907024" y="1755648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all 3 policies over same deterministic seeds. Renders policy cards (rank, avg reward, deliveries, completion%), bar charts, leaderboard table, CSV download.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18304" y="2340864"/>
            <a:ext cx="1143000" cy="2377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23408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 — Saved Plots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907024" y="2359152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metrics.json → live line chart of reward, deliveries, epsilon. Also displays all PNG training artifacts saved during training.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18304" y="2944368"/>
            <a:ext cx="1143000" cy="2377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294436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 — Config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907024" y="2962656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YAML config with all sidebar tuning shown as code block — verify parameters before running.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3547872"/>
            <a:ext cx="1143000" cy="2377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35478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Controls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907024" y="3566160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dir, fallback config, policy radio, seed, animate toggle, render-N slider, delay slider. Env/battery/reward sliders with progress bars.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 — Part 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step(): Battery Logic &amp; Auto-Pickup/Drop  (warehouse_env.py)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Code  1/3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1168" y="676656"/>
            <a:ext cx="8741664" cy="42245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749808"/>
            <a:ext cx="8503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envs/warehouse_env.py  —  step()  (key sections, simplified)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941832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step(self, actions):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320040" y="1081278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self.steps += 1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320040" y="1220724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rewards = [cfg['rewards']['time_step']] * n_agents     # −0.012 per agent per step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320040" y="1360170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agent in enumerate(self.agents):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320040" y="1499616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── Battery: recharging ─────────────────────────────────────────────────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320040" y="1639062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agent.charging: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320040" y="1778508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agent.battery = min(cap, battery + recharge_rate);  continue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320040" y="1917954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── Battery: empty → force to nearest charger ──────────────────────────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320040" y="2057400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agent.battery &lt;= 0: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320040" y="2196846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rewards[i] += cfg['rewards']['battery_empty']   # −6.0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320040" y="2336292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self._step_toward(agent, nearest_charger, occupied);  continue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320040" y="2475738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── Battery: low → proactive routing override ─────────────────────────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320040" y="2615184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agent.battery / batt_cap &lt; batt_lo:   # &lt; 20%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320040" y="2754630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self._step_toward(agent, charger, occupied);  continue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320040" y="2894076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── Normal navigation (DQN action applied) ─────────────────────────────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320040" y="3033522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valid_move: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320040" y="3172968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agent.pos = dest;   agent.battery -= bd_move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320040" y="3312414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agent.pos == order.rack_pos:              # ✅  AUTO PICKUP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320040" y="3451860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agent.phase = TO_GOAL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320040" y="3591306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rewards[i] += cfg['rewards']['pickup_item']   # +8.0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320040" y="3730752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agent.pos == order.goal_pos:            # ✅  AUTO DROP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320040" y="3870198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order.done = True;   total_delivered += 1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320040" y="4009644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rewards[i] += cfg['rewards']['delivery_complete']   # +32.0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320040" y="4149090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rewards[picker] += picker_assist   # +2.5  (nearby pickers)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320040" y="4288536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rewards[i] += progress_shaping(old_dist, new_dist)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320040" y="4427982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rewards[i] += cfg['rewards']['collision']   # −1.0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320040" y="4567428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all(o.done for o in orders):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320040" y="4706874"/>
            <a:ext cx="850392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range(n_agents): rewards[i] += team_bonus   # +55.0</a:t>
            </a:r>
            <a:endParaRPr lang="en-US" sz="7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 — Part 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learn() Update &amp; Progress-Shaping Reward  (dqn_agent.py)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Code  2/3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1168" y="676656"/>
            <a:ext cx="4315968" cy="42245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749808"/>
            <a:ext cx="40782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agents/dqn_agent.py  —  learn()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941832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learn(self):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320040" y="1119309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self.buf.ready(self.bs): return {}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320040" y="1296785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s, a, r, s2, d = self.buf.sample(self.bs)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320040" y="1474262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Double DQN: decouple selection and evaluation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320040" y="1651739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torch.no_grad():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320040" y="1829216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best_a = self.policy(s2).argmax(1, keepdim=True)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320040" y="2006692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tgt_q  = r + (1-d) * γ * self.target(s2)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320040" y="2184169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.gather(1, best_a).squeeze(1)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320040" y="2361646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cur_q = self.policy(s).gather(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320040" y="2539123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1, a.unsqueeze(1)).squeeze(1)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320040" y="2716599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Huber loss (SmoothL1)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320040" y="2894076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nn.SmoothL1Loss()(cur_q, tgt_q)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320040" y="3071553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self.opt.zero_grad()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320040" y="3249029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320040" y="3426506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torch.nn.utils.clip_grad_norm_(params, 1.0)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320040" y="3603983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self.opt.step()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320040" y="3781460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self.upd_ctr += 1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320040" y="3958936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Sync target network every 300 updates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320040" y="4136413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self.upd_ctr % self.tgt_upd == 0: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320040" y="4313890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self.target.load_state_dict(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320040" y="4491367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self.policy.state_dict())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320040" y="4668843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{'loss': loss.item(), 'q': cur_q.mean().item()}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4626864" y="676656"/>
            <a:ext cx="4315968" cy="42245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45736" y="749808"/>
            <a:ext cx="40782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Progress shaping  (inside step(), after each valid move)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45736" y="941832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new_dist = self._dist_to_target(agent)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4745736" y="1127760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Anchor resets when agent changes target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4745736" y="1313688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new_progress_key != old_key: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4745736" y="1499616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agent.best_dist = new_dist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4745736" y="1685544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Reward when agent moves closer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4745736" y="1871472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new_dist &lt; agent.best_dist: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4745736" y="2057400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rewards[i] += progress * (best - new_dist)  # +0.6/unit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4745736" y="2243328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agent.best_dist = new_dist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4745736" y="2429256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Penalty when agent moves away</a:t>
            </a:r>
            <a:endParaRPr lang="en-US" sz="730" dirty="0"/>
          </a:p>
        </p:txBody>
      </p:sp>
      <p:sp>
        <p:nvSpPr>
          <p:cNvPr id="42" name="Text 40"/>
          <p:cNvSpPr/>
          <p:nvPr/>
        </p:nvSpPr>
        <p:spPr>
          <a:xfrm>
            <a:off x="4745736" y="2615184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new_dist &gt; old_dist:</a:t>
            </a:r>
            <a:endParaRPr lang="en-US" sz="730" dirty="0"/>
          </a:p>
        </p:txBody>
      </p:sp>
      <p:sp>
        <p:nvSpPr>
          <p:cNvPr id="43" name="Text 41"/>
          <p:cNvSpPr/>
          <p:nvPr/>
        </p:nvSpPr>
        <p:spPr>
          <a:xfrm>
            <a:off x="4745736" y="2801112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rewards[i] += move_away*(new_dist-old_dist)  # −1.2/unit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4745736" y="2987040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30" dirty="0"/>
          </a:p>
        </p:txBody>
      </p:sp>
      <p:sp>
        <p:nvSpPr>
          <p:cNvPr id="45" name="Text 43"/>
          <p:cNvSpPr/>
          <p:nvPr/>
        </p:nvSpPr>
        <p:spPr>
          <a:xfrm>
            <a:off x="4745736" y="3172968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_dist_to_target  (Manhattan distance)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4745736" y="3358896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_dist_to_target(self, agent):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4745736" y="3544824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agent.phase == TO_PICKUP:</a:t>
            </a:r>
            <a:endParaRPr lang="en-US" sz="730" dirty="0"/>
          </a:p>
        </p:txBody>
      </p:sp>
      <p:sp>
        <p:nvSpPr>
          <p:cNvPr id="48" name="Text 46"/>
          <p:cNvSpPr/>
          <p:nvPr/>
        </p:nvSpPr>
        <p:spPr>
          <a:xfrm>
            <a:off x="4745736" y="3730752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tgt = agent.order.rack_pos</a:t>
            </a:r>
            <a:endParaRPr lang="en-US" sz="730" dirty="0"/>
          </a:p>
        </p:txBody>
      </p:sp>
      <p:sp>
        <p:nvSpPr>
          <p:cNvPr id="49" name="Text 47"/>
          <p:cNvSpPr/>
          <p:nvPr/>
        </p:nvSpPr>
        <p:spPr>
          <a:xfrm>
            <a:off x="4745736" y="3916680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agent.phase == TO_GOAL:</a:t>
            </a: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4745736" y="4102608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tgt = agent.order.goal_pos</a:t>
            </a:r>
            <a:endParaRPr lang="en-US" sz="730" dirty="0"/>
          </a:p>
        </p:txBody>
      </p:sp>
      <p:sp>
        <p:nvSpPr>
          <p:cNvPr id="51" name="Text 49"/>
          <p:cNvSpPr/>
          <p:nvPr/>
        </p:nvSpPr>
        <p:spPr>
          <a:xfrm>
            <a:off x="4745736" y="4288536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agent.type == PICKER:</a:t>
            </a:r>
            <a:endParaRPr lang="en-US" sz="730" dirty="0"/>
          </a:p>
        </p:txBody>
      </p:sp>
      <p:sp>
        <p:nvSpPr>
          <p:cNvPr id="52" name="Text 50"/>
          <p:cNvSpPr/>
          <p:nvPr/>
        </p:nvSpPr>
        <p:spPr>
          <a:xfrm>
            <a:off x="4745736" y="4474464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tgt = self._picker_target(agent)</a:t>
            </a:r>
            <a:endParaRPr lang="en-US" sz="730" dirty="0"/>
          </a:p>
        </p:txBody>
      </p:sp>
      <p:sp>
        <p:nvSpPr>
          <p:cNvPr id="53" name="Text 51"/>
          <p:cNvSpPr/>
          <p:nvPr/>
        </p:nvSpPr>
        <p:spPr>
          <a:xfrm>
            <a:off x="4745736" y="4660392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abs(pos[0]-tgt[0]) + abs(pos[1]-tgt[1])</a:t>
            </a:r>
            <a:endParaRPr lang="en-US" sz="7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 — Part 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Builder &amp; Greedy Baseline  (warehouse_env + baseline_policies)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Code  3/3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1168" y="676656"/>
            <a:ext cx="4315968" cy="42245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749808"/>
            <a:ext cx="40782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_observe(idx)  —  57-dim state builder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941832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 = np.zeros(57, dtype=np.float32)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320040" y="1127760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Own state (dims 0–4)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320040" y="1313688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put(pos_x/W, pos_y/H, battery/cap, carrying, phase/3)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320040" y="1499616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Target direction (dims 5–7)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320040" y="1685544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tgt = goal_pos if carrying else rack_pos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320040" y="1871472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put(δx/W, δy/H, manhattan/(W+H))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320040" y="2057400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Order coords (dims 8–11)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320040" y="2243328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put(rack_x/W, rack_y/H, goal_x/W, goal_y/H)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320040" y="2429256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Pending orders (dims 12–19, up to 4)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320040" y="2615184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o in unassigned_orders[:4]: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320040" y="2801112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put(o.rack_x/W, o.rack_y/H)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320040" y="2987040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Nearest agents (dims 20–31, up to 4)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320040" y="3172968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ag in sorted_by_distance[:4]: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320040" y="3358896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put(δx/W, δy/H, ag.carrying_flag)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320040" y="3544824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Local 5×5 grid (dims 32–56)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320040" y="3730752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dr in range(-2, 3):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320040" y="3916680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dc in range(-2, 3):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320040" y="4102608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cell = grid[pos_y+dr, pos_x+dc]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320040" y="4288536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5.0 marks another agent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320040" y="4474464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put(cell / 5.0)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320040" y="4660392"/>
            <a:ext cx="407822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obs[:57]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4626864" y="676656"/>
            <a:ext cx="4315968" cy="42245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45736" y="749808"/>
            <a:ext cx="40782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baseline_policies.py  —  greedy_actions(env)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45736" y="941832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greedy_actions(env):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4745736" y="1119309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actions = []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4745736" y="1296785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occupied = {tuple(a.pos) for a in env.agents}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4745736" y="1474262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agent in env.agents: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4745736" y="1651739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B7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Priority routing logic: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4745736" y="1829216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1. battery &lt; low → nearest charger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4745736" y="2006692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2. AGV with order → rack then goal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4745736" y="2184169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3. Picker → nearest active goal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4745736" y="2361646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target = _agent_target(env, agent)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4745736" y="2539123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target is None:</a:t>
            </a:r>
            <a:endParaRPr lang="en-US" sz="730" dirty="0"/>
          </a:p>
        </p:txBody>
      </p:sp>
      <p:sp>
        <p:nvSpPr>
          <p:cNvPr id="42" name="Text 40"/>
          <p:cNvSpPr/>
          <p:nvPr/>
        </p:nvSpPr>
        <p:spPr>
          <a:xfrm>
            <a:off x="4745736" y="2716599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actions.append(WAIT);  continue</a:t>
            </a:r>
            <a:endParaRPr lang="en-US" sz="730" dirty="0"/>
          </a:p>
        </p:txBody>
      </p:sp>
      <p:sp>
        <p:nvSpPr>
          <p:cNvPr id="43" name="Text 41"/>
          <p:cNvSpPr/>
          <p:nvPr/>
        </p:nvSpPr>
        <p:spPr>
          <a:xfrm>
            <a:off x="4745736" y="2894076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 = WAIT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4745736" y="3071553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best_score = manhattan(agent.pos, target)</a:t>
            </a:r>
            <a:endParaRPr lang="en-US" sz="730" dirty="0"/>
          </a:p>
        </p:txBody>
      </p:sp>
      <p:sp>
        <p:nvSpPr>
          <p:cNvPr id="45" name="Text 43"/>
          <p:cNvSpPr/>
          <p:nvPr/>
        </p:nvSpPr>
        <p:spPr>
          <a:xfrm>
            <a:off x="4745736" y="3249029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act, (dc, dr) in MOVES.items():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4745736" y="3426506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dest = (pos[0]+dc, pos[1]+dr)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4745736" y="3603983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_valid_move(env,agent,dest):</a:t>
            </a:r>
            <a:endParaRPr lang="en-US" sz="730" dirty="0"/>
          </a:p>
        </p:txBody>
      </p:sp>
      <p:sp>
        <p:nvSpPr>
          <p:cNvPr id="48" name="Text 46"/>
          <p:cNvSpPr/>
          <p:nvPr/>
        </p:nvSpPr>
        <p:spPr>
          <a:xfrm>
            <a:off x="4745736" y="3781460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</a:t>
            </a:r>
            <a:endParaRPr lang="en-US" sz="730" dirty="0"/>
          </a:p>
        </p:txBody>
      </p:sp>
      <p:sp>
        <p:nvSpPr>
          <p:cNvPr id="49" name="Text 47"/>
          <p:cNvSpPr/>
          <p:nvPr/>
        </p:nvSpPr>
        <p:spPr>
          <a:xfrm>
            <a:off x="4745736" y="3958936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score = manhattan(dest, target)</a:t>
            </a: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4745736" y="4136413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score &lt; best_score:</a:t>
            </a:r>
            <a:endParaRPr lang="en-US" sz="730" dirty="0"/>
          </a:p>
        </p:txBody>
      </p:sp>
      <p:sp>
        <p:nvSpPr>
          <p:cNvPr id="51" name="Text 49"/>
          <p:cNvSpPr/>
          <p:nvPr/>
        </p:nvSpPr>
        <p:spPr>
          <a:xfrm>
            <a:off x="4745736" y="4313890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best_score = score; best = act</a:t>
            </a:r>
            <a:endParaRPr lang="en-US" sz="730" dirty="0"/>
          </a:p>
        </p:txBody>
      </p:sp>
      <p:sp>
        <p:nvSpPr>
          <p:cNvPr id="52" name="Text 50"/>
          <p:cNvSpPr/>
          <p:nvPr/>
        </p:nvSpPr>
        <p:spPr>
          <a:xfrm>
            <a:off x="4745736" y="4491367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8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actions.append(best)</a:t>
            </a:r>
            <a:endParaRPr lang="en-US" sz="730" dirty="0"/>
          </a:p>
        </p:txBody>
      </p:sp>
      <p:sp>
        <p:nvSpPr>
          <p:cNvPr id="53" name="Text 51"/>
          <p:cNvSpPr/>
          <p:nvPr/>
        </p:nvSpPr>
        <p:spPr>
          <a:xfrm>
            <a:off x="4745736" y="4668843"/>
            <a:ext cx="4078224" cy="17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actions</a:t>
            </a:r>
            <a:endParaRPr lang="en-US" sz="7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Analysis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Generated by the TA-RWARE Training Pipeline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56032" y="676656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plots are produced by plot_results.py &amp; evaluate.py and saved under logs/runs/&lt;run_name&gt;/plots/. Values shown below are indicative — run actual training to populate real metrics.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" y="1024128"/>
            <a:ext cx="431596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24128"/>
            <a:ext cx="4315968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1069848"/>
            <a:ext cx="1115568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06984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episode_performance.png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1408176" y="111556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Performance (3 panels)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1426464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Episode Reward vs episode (raw + smoothed line)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Deliveries per Episode — rises as policy improves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Completion Rate % — delivery/total orders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reward to climb from −180 to +250–300 over 3,000 eps.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626864" y="1024128"/>
            <a:ext cx="431596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24128"/>
            <a:ext cx="4315968" cy="45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069848"/>
            <a:ext cx="1115568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06984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training_diagnostics.png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5833872" y="111556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Diagnostics (3 panels)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18304" y="1426464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Huber Loss vs update steps — should fall &lt;0.1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 Q-Value vs episodes — rises monotonically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Epsilon decay curve — 1.0 → 0.05 exponential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 to detect divergence or premature exploitation.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01168" y="2350008"/>
            <a:ext cx="431596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350008"/>
            <a:ext cx="4315968" cy="45720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" y="2395728"/>
            <a:ext cx="1115568" cy="274320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239572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full_summary.png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1408176" y="244144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Summary (6-panel grid)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" y="2752344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2×3 overview: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reward, deliveries, completion %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loss, Q-value, epsilon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image to present convergence at evaluation.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626864" y="2350008"/>
            <a:ext cx="431596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26864" y="2350008"/>
            <a:ext cx="4315968" cy="45720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26864" y="2395728"/>
            <a:ext cx="1115568" cy="274320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239572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reward_analysis.png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5833872" y="244144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Distribution Analysis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18304" y="2752344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Histogram (30 bins) with mean vertical line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Rolling mean ± 1 std band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variance reduction as training stabilises after ~1,500 eps.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01168" y="3675888"/>
            <a:ext cx="431596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1168" y="3675888"/>
            <a:ext cx="4315968" cy="45720"/>
          </a:xfrm>
          <a:prstGeom prst="rect">
            <a:avLst/>
          </a:prstGeom>
          <a:solidFill>
            <a:srgbClr val="2D7A55"/>
          </a:solidFill>
          <a:ln w="12700">
            <a:solidFill>
              <a:srgbClr val="2D7A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1168" y="3721608"/>
            <a:ext cx="1115568" cy="274320"/>
          </a:xfrm>
          <a:prstGeom prst="rect">
            <a:avLst/>
          </a:prstGeom>
          <a:solidFill>
            <a:srgbClr val="2D7A55"/>
          </a:solidFill>
          <a:ln w="12700">
            <a:solidFill>
              <a:srgbClr val="2D7A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372160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agent_comparison.png</a:t>
            </a:r>
            <a:endParaRPr lang="en-US" sz="620" dirty="0"/>
          </a:p>
        </p:txBody>
      </p:sp>
      <p:sp>
        <p:nvSpPr>
          <p:cNvPr id="36" name="Text 34"/>
          <p:cNvSpPr/>
          <p:nvPr/>
        </p:nvSpPr>
        <p:spPr>
          <a:xfrm>
            <a:off x="1408176" y="376732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Comparison (6-panel grid)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92608" y="4078224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Smoothed: reward, deliveries, assists per agent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Distance, collisions per agent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Bar: recent avg reward (last 100 eps)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AGV vs Picker contributions.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4626864" y="3675888"/>
            <a:ext cx="431596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26864" y="3675888"/>
            <a:ext cx="4315968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26864" y="3721608"/>
            <a:ext cx="1115568" cy="274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6864" y="372160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policy_compare_*_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comparison.png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5833872" y="376732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Comparison (evaluate.py)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18304" y="4078224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bar charts: Avg Reward, Deliveries, Completion%,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Throughput/100, Order Cycle Time, Collisions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vs Greedy vs Random on same seeds.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saves _summary.json with full stats.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— Hyperparameter Tuning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Decisions &amp; State-of-Art Comparison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Hyperparameter Tuning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676656"/>
          <a:ext cx="8741664" cy="3493008"/>
        </p:xfrm>
        <a:graphic>
          <a:graphicData uri="http://schemas.openxmlformats.org/drawingml/2006/table">
            <a:tbl>
              <a:tblPr/>
              <a:tblGrid>
                <a:gridCol w="1207008"/>
                <a:gridCol w="987552"/>
                <a:gridCol w="1627632"/>
                <a:gridCol w="491947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Tried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decay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/ 0.9985 / 0.9995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→ premature exploitation. 0.9995 → no convergence by ep 3000. 0.9985 gives ~1400 exploration eps on 5×7 grid.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reward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20 / 32 / 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 makes delivery too weak vs shaping noise. &gt; 40 destabilises early Q-values.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update freq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steps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/ 300 / 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→ unstable targets; 1000 → stale bootstrap. 300 is stable for this env size.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dims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[256,128,64]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[128,64] / [256,128,64] / [512,256,128]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underfit 57-dim obs. Larger slows CPU convergence significantly.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64 / 128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too noisy on sparse rewards; 128 diminishing returns vs speed. 64 optimal.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(discount)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 / 0.97 / 0.99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overvalues distant rewards; 0.95 too myopic for cross-grid navigation.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weight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/ 0.6 / 1.0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0.4 insufficient to guide navigation. &gt; 0.8 causes oscillation chasing shaping.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Move-away penalty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 / −1.2 / −2.0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 too weak; −2.0 penalises exploration too harshly in early training.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bonus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/ 55 / 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low → no cooperative completion signal. Too high → Q instability at convergence.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01168" y="4279392"/>
            <a:ext cx="8741664" cy="603504"/>
          </a:xfrm>
          <a:prstGeom prst="rect">
            <a:avLst/>
          </a:prstGeom>
          <a:solidFill>
            <a:srgbClr val="EBF4F5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4343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State-of-Art Comparison: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395728" y="4334256"/>
            <a:ext cx="6455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SEAC (Christianos 2020) achieves ~80 deliveries/ep on RWARE-medium with on-policy Actor-Critic and gradient sharing. TA-RWARE targets the same environment class using off-policy Dueling DQN with battery constraints and heterogeneous AGV+picker agents not present in any prior benchmark. Our greedy baseline establishes a minimum bar; trained DQN is expected to exceed it by ≥3× after 3,000 episodes per config scaling.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Contributions &amp; Roadmap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Conclusion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1168" y="713232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713232"/>
            <a:ext cx="4315968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8229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Custom Warehouse Environment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" y="1152144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multi-agent gymnasium env with AGV/picker heterogeneity, battery constraints, and dynamic order injection — exceeds standard RWARE benchmarks.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713232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6864" y="713232"/>
            <a:ext cx="4315968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229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Dueling DQN Training Pipeline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152144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Double Dueling DQN with progress-shaped rewards, ε-decay, and checkpoint management. Per-agent metrics logged throughout training.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" y="2130552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130552"/>
            <a:ext cx="4315968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2240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Auto-Pickup/Drop Mechanism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" y="2569464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ACT-action bottleneck causing credit-assignment failure. Delivery reward is immediate — halved required exploration to converge.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26864" y="2130552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2130552"/>
            <a:ext cx="4315968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40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Streamlit Interactive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569464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policy visualisation, sidebar parameter tuning, 3-policy comparison, and CSV/PNG export — accessible to non-expert evaluators.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" y="3584448"/>
            <a:ext cx="8741664" cy="1298448"/>
          </a:xfrm>
          <a:prstGeom prst="rect">
            <a:avLst/>
          </a:prstGeom>
          <a:solidFill>
            <a:srgbClr val="EBF4F5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648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977640"/>
            <a:ext cx="50292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QMIX / MAPPO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42793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Q-value decomposition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93392" y="3977640"/>
            <a:ext cx="50292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84832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084832" y="42793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warehouse state encoding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730752" y="3977640"/>
            <a:ext cx="50292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22192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Replay (PER)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22192" y="42793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event sampling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68112" y="3977640"/>
            <a:ext cx="50292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9552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59552" y="42793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ROS/NVIDIA Isaac bridge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205472" y="3977640"/>
            <a:ext cx="50292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96912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RL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96912" y="42793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vs energy vs wear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64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" y="6400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Papers — with Links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4F5"/>
          </a:solidFill>
          <a:ln w="12700">
            <a:solidFill>
              <a:srgbClr val="EB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4969764"/>
            <a:ext cx="855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References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676656"/>
          <a:ext cx="8741664" cy="4206240"/>
        </p:xfrm>
        <a:graphic>
          <a:graphicData uri="http://schemas.openxmlformats.org/drawingml/2006/table">
            <a:tbl>
              <a:tblPr/>
              <a:tblGrid>
                <a:gridCol w="201168"/>
                <a:gridCol w="1298448"/>
                <a:gridCol w="2834640"/>
                <a:gridCol w="1298448"/>
                <a:gridCol w="3108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Mnih et al. (2015)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Human-Level Control through Deep Reinforcement Learning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518, 529–533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https://arxiv.org/abs/1312.5602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 (2016)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Dueling Network Architectures for Deep Reinforcement Learning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ICML 2016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https://arxiv.org/abs/1511.06581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 Hasselt et al. (2016)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Reinforcement Learning with Double Q-Learning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AAAI 2016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https://arxiv.org/abs/1509.06461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Schaul et al. (2016)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Prioritized Experience Replay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ICLR 2016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https://arxiv.org/abs/1511.05952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Christianos et al. (2020)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Experience Actor-Critic for MARL (SEAC + RWARE)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2020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https://arxiv.org/abs/2006.07169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Papoudakis et al. (2021)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 MARL Algorithms in Cooperative Tasks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D&amp;B 2021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https://arxiv.org/abs/2006.14884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Krnjaic et al. (2022)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 MARL for Warehouse Logistics with Robotic &amp; Human Co-Workers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2212.11498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https://arxiv.org/abs/2212.11498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Gankin et al. (2022)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DQN for AGV Routing in Modular Manufacturing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Front. Robotics AI 2022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https://doi.org/10.3389/frobt.2022.1027340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 et al. (2023)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Energy-Efficient Routing of Multiple AGVs with MARL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MDPI / PMC 2023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https://www.ncbi.nlm.nih.gov/pmc/articles/PMC10047393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Löffler et al. (2022)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Picker Routing in AGV-Assisted Order Picking Systems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J. Computing 2022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https://doi.org/10.1287/ijoc.2021.1104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2026-05-11T04:26:17Z</dcterms:created>
  <dcterms:modified xsi:type="dcterms:W3CDTF">2026-05-11T04:26:17Z</dcterms:modified>
</cp:coreProperties>
</file>