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000" b="0" i="0" u="none" strike="noStrike">
                <a:solidFill>
                  <a:srgbClr val="000000"/>
                </a:solidFill>
                <a:latin typeface="Arial"/>
              </a:rPr>
              <a:t>Episode Reward — DQN Training Curve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DQN Reward</c:v>
                </c:pt>
              </c:strCache>
            </c:strRef>
          </c:tx>
          <c:spPr>
            <a:solidFill>
              <a:srgbClr val="0D7377"/>
            </a:solidFill>
            <a:ln w="31750" cap="flat">
              <a:solidFill>
                <a:srgbClr val="0D7377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D7377"/>
              </a:solidFill>
              <a:ln w="9525" cap="flat">
                <a:solidFill>
                  <a:srgbClr val="0D7377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Sheet1!$A$2:$A$12</c:f>
              <c:multiLvlStrCache>
                <c:ptCount val="11"/>
                <c:lvl>
                  <c:pt idx="0">
                    <c:v>0</c:v>
                  </c:pt>
                  <c:pt idx="1">
                    <c:v>300</c:v>
                  </c:pt>
                  <c:pt idx="2">
                    <c:v>600</c:v>
                  </c:pt>
                  <c:pt idx="3">
                    <c:v>900</c:v>
                  </c:pt>
                  <c:pt idx="4">
                    <c:v>1200</c:v>
                  </c:pt>
                  <c:pt idx="5">
                    <c:v>1500</c:v>
                  </c:pt>
                  <c:pt idx="6">
                    <c:v>1800</c:v>
                  </c:pt>
                  <c:pt idx="7">
                    <c:v>2100</c:v>
                  </c:pt>
                  <c:pt idx="8">
                    <c:v>2400</c:v>
                  </c:pt>
                  <c:pt idx="9">
                    <c:v>2700</c:v>
                  </c:pt>
                  <c:pt idx="10">
                    <c:v>3000</c:v>
                  </c:pt>
                </c:lvl>
              </c:multiLvlStrCache>
            </c:multiLvl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-180</c:v>
                </c:pt>
                <c:pt idx="1">
                  <c:v>-120</c:v>
                </c:pt>
                <c:pt idx="2">
                  <c:v>-60</c:v>
                </c:pt>
                <c:pt idx="3">
                  <c:v>-20</c:v>
                </c:pt>
                <c:pt idx="4">
                  <c:v>30</c:v>
                </c:pt>
                <c:pt idx="5">
                  <c:v>85</c:v>
                </c:pt>
                <c:pt idx="6">
                  <c:v>140</c:v>
                </c:pt>
                <c:pt idx="7">
                  <c:v>190</c:v>
                </c:pt>
                <c:pt idx="8">
                  <c:v>230</c:v>
                </c:pt>
                <c:pt idx="9">
                  <c:v>258</c:v>
                </c:pt>
                <c:pt idx="10">
                  <c:v>275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Greedy Baseline</c:v>
                </c:pt>
              </c:strCache>
            </c:strRef>
          </c:tx>
          <c:spPr>
            <a:solidFill>
              <a:srgbClr val="6B8899"/>
            </a:solidFill>
            <a:ln w="31750" cap="flat">
              <a:solidFill>
                <a:srgbClr val="6B8899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6B8899"/>
              </a:solidFill>
              <a:ln w="9525" cap="flat">
                <a:solidFill>
                  <a:srgbClr val="6B8899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Sheet1!$A$2:$A$12</c:f>
              <c:multiLvlStrCache>
                <c:ptCount val="11"/>
                <c:lvl>
                  <c:pt idx="0">
                    <c:v>0</c:v>
                  </c:pt>
                  <c:pt idx="1">
                    <c:v>300</c:v>
                  </c:pt>
                  <c:pt idx="2">
                    <c:v>600</c:v>
                  </c:pt>
                  <c:pt idx="3">
                    <c:v>900</c:v>
                  </c:pt>
                  <c:pt idx="4">
                    <c:v>1200</c:v>
                  </c:pt>
                  <c:pt idx="5">
                    <c:v>1500</c:v>
                  </c:pt>
                  <c:pt idx="6">
                    <c:v>1800</c:v>
                  </c:pt>
                  <c:pt idx="7">
                    <c:v>2100</c:v>
                  </c:pt>
                  <c:pt idx="8">
                    <c:v>2400</c:v>
                  </c:pt>
                  <c:pt idx="9">
                    <c:v>2700</c:v>
                  </c:pt>
                  <c:pt idx="10">
                    <c:v>3000</c:v>
                  </c:pt>
                </c:lvl>
              </c:multiLvlStrCache>
            </c:multiLvlStrRef>
          </c:cat>
          <c:val>
            <c:numRef>
              <c:f>Sheet1!$C$2:$C$12</c:f>
              <c:numCache>
                <c:formatCode>General</c:formatCode>
                <c:ptCount val="11"/>
                <c:pt idx="0">
                  <c:v>88</c:v>
                </c:pt>
                <c:pt idx="1">
                  <c:v>88</c:v>
                </c:pt>
                <c:pt idx="2">
                  <c:v>88</c:v>
                </c:pt>
                <c:pt idx="3">
                  <c:v>88</c:v>
                </c:pt>
                <c:pt idx="4">
                  <c:v>88</c:v>
                </c:pt>
                <c:pt idx="5">
                  <c:v>88</c:v>
                </c:pt>
                <c:pt idx="6">
                  <c:v>88</c:v>
                </c:pt>
                <c:pt idx="7">
                  <c:v>88</c:v>
                </c:pt>
                <c:pt idx="8">
                  <c:v>88</c:v>
                </c:pt>
                <c:pt idx="9">
                  <c:v>88</c:v>
                </c:pt>
                <c:pt idx="10">
                  <c:v>88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889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0E4E6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889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900" b="0" i="0" u="none" strike="noStrike">
                <a:solidFill>
                  <a:srgbClr val="000000"/>
                </a:solidFill>
                <a:latin typeface="Arial"/>
              </a:rPr>
              <a:t>Policy Comparison — Average Reward (10 eval episodes)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Reward</c:v>
                </c:pt>
              </c:strCache>
            </c:strRef>
          </c:tx>
          <c:spPr>
            <a:solidFill>
              <a:srgbClr val="0D737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11B22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D7377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4A6274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B83232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DQN</c:v>
                  </c:pt>
                  <c:pt idx="1">
                    <c:v>Greedy</c:v>
                  </c:pt>
                  <c:pt idx="2">
                    <c:v>Random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275</c:v>
                </c:pt>
                <c:pt idx="1">
                  <c:v>88</c:v>
                </c:pt>
                <c:pt idx="2">
                  <c:v>-95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111B22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889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0E4E6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889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900" b="0" i="0" u="none" strike="noStrike">
                <a:solidFill>
                  <a:srgbClr val="000000"/>
                </a:solidFill>
                <a:latin typeface="Arial"/>
              </a:rPr>
              <a:t>Huber Training Loss (update steps)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Loss</c:v>
                </c:pt>
              </c:strCache>
            </c:strRef>
          </c:tx>
          <c:spPr>
            <a:solidFill>
              <a:srgbClr val="B83232"/>
            </a:solidFill>
            <a:ln w="25400" cap="flat">
              <a:solidFill>
                <a:srgbClr val="B8323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B83232"/>
              </a:solidFill>
              <a:ln w="9525" cap="flat">
                <a:solidFill>
                  <a:srgbClr val="B8323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0</c:v>
                  </c:pt>
                  <c:pt idx="1">
                    <c:v>5k</c:v>
                  </c:pt>
                  <c:pt idx="2">
                    <c:v>10k</c:v>
                  </c:pt>
                  <c:pt idx="3">
                    <c:v>20k</c:v>
                  </c:pt>
                  <c:pt idx="4">
                    <c:v>40k</c:v>
                  </c:pt>
                  <c:pt idx="5">
                    <c:v>80k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0.85</c:v>
                </c:pt>
                <c:pt idx="1">
                  <c:v>0.62</c:v>
                </c:pt>
                <c:pt idx="2">
                  <c:v>0.42</c:v>
                </c:pt>
                <c:pt idx="3">
                  <c:v>0.28</c:v>
                </c:pt>
                <c:pt idx="4">
                  <c:v>0.15</c:v>
                </c:pt>
                <c:pt idx="5">
                  <c:v>0.09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889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0E4E6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889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900" b="0" i="0" u="none" strike="noStrike">
                <a:solidFill>
                  <a:srgbClr val="000000"/>
                </a:solidFill>
                <a:latin typeface="Arial"/>
              </a:rPr>
              <a:t>Mean Q-Value over Training Episodes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Mean Q-Value</c:v>
                </c:pt>
              </c:strCache>
            </c:strRef>
          </c:tx>
          <c:spPr>
            <a:solidFill>
              <a:srgbClr val="14A5A9"/>
            </a:solidFill>
            <a:ln w="25400" cap="flat">
              <a:solidFill>
                <a:srgbClr val="14A5A9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14A5A9"/>
              </a:solidFill>
              <a:ln w="9525" cap="flat">
                <a:solidFill>
                  <a:srgbClr val="14A5A9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Sheet1!$A$2:$A$9</c:f>
              <c:multiLvlStrCache>
                <c:ptCount val="8"/>
                <c:lvl>
                  <c:pt idx="0">
                    <c:v>0</c:v>
                  </c:pt>
                  <c:pt idx="1">
                    <c:v>300</c:v>
                  </c:pt>
                  <c:pt idx="2">
                    <c:v>600</c:v>
                  </c:pt>
                  <c:pt idx="3">
                    <c:v>900</c:v>
                  </c:pt>
                  <c:pt idx="4">
                    <c:v>1200</c:v>
                  </c:pt>
                  <c:pt idx="5">
                    <c:v>1500</c:v>
                  </c:pt>
                  <c:pt idx="6">
                    <c:v>1800</c:v>
                  </c:pt>
                  <c:pt idx="7">
                    <c:v>2100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-1.2</c:v>
                </c:pt>
                <c:pt idx="1">
                  <c:v>0.4</c:v>
                </c:pt>
                <c:pt idx="2">
                  <c:v>2.1</c:v>
                </c:pt>
                <c:pt idx="3">
                  <c:v>4.5</c:v>
                </c:pt>
                <c:pt idx="4">
                  <c:v>7.2</c:v>
                </c:pt>
                <c:pt idx="5">
                  <c:v>9.8</c:v>
                </c:pt>
                <c:pt idx="6">
                  <c:v>11.6</c:v>
                </c:pt>
                <c:pt idx="7">
                  <c:v>13.1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889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0E4E6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889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chart" Target="/ppt/charts/chart4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E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736592"/>
            <a:ext cx="9144000" cy="164592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94360" y="457200"/>
            <a:ext cx="2011680" cy="347472"/>
          </a:xfrm>
          <a:prstGeom prst="roundRect">
            <a:avLst>
              <a:gd name="adj" fmla="val 13158"/>
            </a:avLst>
          </a:prstGeom>
          <a:solidFill>
            <a:srgbClr val="0D7377">
              <a:alpha val="60000"/>
            </a:srgbClr>
          </a:solidFill>
          <a:ln w="12700">
            <a:solidFill>
              <a:srgbClr val="14A5A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45720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23AID312 · Team 10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594360" y="96012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TA-RWARE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594360" y="1783080"/>
            <a:ext cx="7132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8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Task-Allocation Reinforcement Learning for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8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Warehouse Autonomous Routing &amp; Execution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94360" y="2606040"/>
            <a:ext cx="4754880" cy="2743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2724912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Deep Reinforcement Learning  ·  Dueling DQN  ·  Heterogeneous AGV &amp; Picker Coordination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94360" y="3246120"/>
            <a:ext cx="1920240" cy="868680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14A5A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3291840"/>
            <a:ext cx="1920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+ 2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94360" y="3730752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8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AGVs + Pickers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697480" y="3246120"/>
            <a:ext cx="1920240" cy="868680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14A5A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97480" y="3291840"/>
            <a:ext cx="1920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× 7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2697480" y="3730752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8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 Environment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800600" y="3246120"/>
            <a:ext cx="1920240" cy="868680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14A5A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00600" y="3291840"/>
            <a:ext cx="1920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Dueling DQN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4800600" y="3730752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8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Algorithm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903720" y="3246120"/>
            <a:ext cx="1920240" cy="868680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14A5A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903720" y="3291840"/>
            <a:ext cx="1920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3,000 Eps.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903720" y="3730752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8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Budget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94360" y="4773168"/>
            <a:ext cx="7772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Reinforcement Learning Project Evaluation  |  May 2026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320040"/>
            <a:ext cx="54864" cy="50292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Motivation &amp; Project Goals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11480" y="1078992"/>
            <a:ext cx="8321040" cy="20117"/>
          </a:xfrm>
          <a:prstGeom prst="rect">
            <a:avLst/>
          </a:prstGeom>
          <a:solidFill>
            <a:srgbClr val="D0E4E6"/>
          </a:solidFill>
          <a:ln w="12700">
            <a:solidFill>
              <a:srgbClr val="D0E4E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4892040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TA-RWARE  |  Problem Statement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411480" y="1234440"/>
            <a:ext cx="45720" cy="658368"/>
          </a:xfrm>
          <a:prstGeom prst="rect">
            <a:avLst/>
          </a:prstGeom>
          <a:solidFill>
            <a:srgbClr val="B83232"/>
          </a:solidFill>
          <a:ln w="12700">
            <a:solidFill>
              <a:srgbClr val="B8323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6928" y="1252728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Suboptimal Human Dispatching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66928" y="1527048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task allocation in warehouses fails to adapt dynamically—leading to idle AGVs, delayed orders, and inefficient routing.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11480" y="2112264"/>
            <a:ext cx="45720" cy="658368"/>
          </a:xfrm>
          <a:prstGeom prst="rect">
            <a:avLst/>
          </a:prstGeom>
          <a:solidFill>
            <a:srgbClr val="B83232"/>
          </a:solidFill>
          <a:ln w="12700">
            <a:solidFill>
              <a:srgbClr val="B8323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66928" y="2130552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Battery &amp; Charging Conflicts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66928" y="2404872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AGVs must balance order execution with proactive charging. Greedy approaches cause battery depletion and workflow bottlenecks.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11480" y="2990088"/>
            <a:ext cx="45720" cy="658368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66928" y="3008376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Coordination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66928" y="3282696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Heterogeneous fleets (AGVs + human pickers) require cooperative scheduling; rigid heuristics cannot generalize to dynamic order loads.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11480" y="3867912"/>
            <a:ext cx="45720" cy="658368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66928" y="388620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Sparse &amp; Delayed Rewards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66928" y="4160520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 RL struggles with sparse warehouse rewards. Auto-pickup/drop design and shaped rewards are needed for convergence.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760720" y="1207008"/>
            <a:ext cx="2926080" cy="3547872"/>
          </a:xfrm>
          <a:prstGeom prst="rect">
            <a:avLst/>
          </a:prstGeom>
          <a:solidFill>
            <a:srgbClr val="E8F4F5"/>
          </a:solidFill>
          <a:ln w="12700">
            <a:solidFill>
              <a:srgbClr val="D0E4E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97880" y="132588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Objectives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97880" y="1719072"/>
            <a:ext cx="265176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pPr indent="0" marL="0">
              <a:buNone/>
            </a:pPr>
            <a:r>
              <a:rPr lang="en-US" sz="10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Design a custom grid-world warehouse environment with battery dynamics &amp; order queues</a:t>
            </a:r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pPr indent="0" marL="0">
              <a:buNone/>
            </a:pPr>
            <a:r>
              <a:rPr lang="en-US" sz="10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Train Dueling DQN agents for heterogeneous AGV + picker coordination</a:t>
            </a:r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pPr indent="0" marL="0">
              <a:buNone/>
            </a:pPr>
            <a:r>
              <a:rPr lang="en-US" sz="10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Implement auto-pickup/drop to densify the reward signal</a:t>
            </a:r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pPr indent="0" marL="0">
              <a:buNone/>
            </a:pPr>
            <a:r>
              <a:rPr lang="en-US" sz="10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Benchmark DQN against greedy &amp; random baselines</a:t>
            </a:r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pPr indent="0" marL="0">
              <a:buNone/>
            </a:pPr>
            <a:r>
              <a:rPr lang="en-US" sz="10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Deliver a Streamlit dashboard for live simulation &amp; policy comparison</a:t>
            </a:r>
            <a:pPr indent="0" marL="0">
              <a:buNone/>
            </a:pP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320040"/>
            <a:ext cx="54864" cy="50292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Survey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Research Foundations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11480" y="1078992"/>
            <a:ext cx="8321040" cy="20117"/>
          </a:xfrm>
          <a:prstGeom prst="rect">
            <a:avLst/>
          </a:prstGeom>
          <a:solidFill>
            <a:srgbClr val="D0E4E6"/>
          </a:solidFill>
          <a:ln w="12700">
            <a:solidFill>
              <a:srgbClr val="D0E4E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4892040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TA-RWARE  |  Literature Survey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384048" y="1207008"/>
            <a:ext cx="4069080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E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84048" y="1207008"/>
            <a:ext cx="4069080" cy="54864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93776" y="1298448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[1] Wang et al., 2016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218688" y="129844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ICML 2016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493776" y="1481328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Dueling Network Architectures for Deep RL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93776" y="176479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↳ </a:t>
            </a:r>
            <a:pPr indent="0" marL="0">
              <a:buNone/>
            </a:pPr>
            <a:r>
              <a:rPr lang="en-US" sz="90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Introduced value-advantage decomposition (V + A) allowing better state evaluation. Directly used in our Dueling DQN backbone.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93776" y="2048256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B832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Gap: </a:t>
            </a:r>
            <a:pPr indent="0" marL="0">
              <a:buNone/>
            </a:pPr>
            <a:r>
              <a:rPr lang="en-US" sz="850" dirty="0">
                <a:solidFill>
                  <a:srgbClr val="6B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Tested only on single-agent Atari; no multi-agent coordination.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384048" y="2514600"/>
            <a:ext cx="4069080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E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84048" y="2514600"/>
            <a:ext cx="4069080" cy="54864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93776" y="260604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[2] Christianos et al., 2020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3218688" y="260604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NeurIPS 2020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493776" y="278892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Experience Actor-Critic for MARL (SEAC + RWARE)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93776" y="3072384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↳ </a:t>
            </a:r>
            <a:pPr indent="0" marL="0">
              <a:buNone/>
            </a:pPr>
            <a:r>
              <a:rPr lang="en-US" sz="90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Introduced the RWARE benchmark — grid-based warehouse environment for MARL research. Inspired our environment design.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93776" y="335584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B832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Gap: </a:t>
            </a:r>
            <a:pPr indent="0" marL="0">
              <a:buNone/>
            </a:pPr>
            <a:r>
              <a:rPr lang="en-US" sz="850" dirty="0">
                <a:solidFill>
                  <a:srgbClr val="6B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SEAC focuses on on-policy methods; off-policy DQN applicability unexplored.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84048" y="3822192"/>
            <a:ext cx="4069080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E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84048" y="3822192"/>
            <a:ext cx="4069080" cy="54864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3776" y="391363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[5] Gankin et al., 2021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3218688" y="3913632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Frontiers in Robotics &amp; AI, 2022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493776" y="4096512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DQN for Modular Manufacturing with AGVs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493776" y="4379976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↳ </a:t>
            </a:r>
            <a:pPr indent="0" marL="0">
              <a:buNone/>
            </a:pPr>
            <a:r>
              <a:rPr lang="en-US" sz="90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Demonstrated shared DQN with experience replay for AGV routing in grid production systems.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93776" y="466344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B832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Gap: </a:t>
            </a:r>
            <a:pPr indent="0" marL="0">
              <a:buNone/>
            </a:pPr>
            <a:r>
              <a:rPr lang="en-US" sz="850" dirty="0">
                <a:solidFill>
                  <a:srgbClr val="6B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single agent type; no heterogeneous picker role or charging dynamics.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4636008" y="1207008"/>
            <a:ext cx="4069080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E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636008" y="1207008"/>
            <a:ext cx="4069080" cy="54864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745736" y="1298448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[3] Papoudakis et al., 2021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7470648" y="129844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NeurIPS Datasets 2021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4745736" y="1481328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Benchmarking MARL Algorithms (LBF &amp; RWARE)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4745736" y="176479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↳ </a:t>
            </a:r>
            <a:pPr indent="0" marL="0">
              <a:buNone/>
            </a:pPr>
            <a:r>
              <a:rPr lang="en-US" sz="90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Comprehensive MARL benchmark revealing performance gaps between cooperative algorithms. Informed our baseline choice.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745736" y="2048256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B832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Gap: </a:t>
            </a:r>
            <a:pPr indent="0" marL="0">
              <a:buNone/>
            </a:pPr>
            <a:r>
              <a:rPr lang="en-US" sz="850" dirty="0">
                <a:solidFill>
                  <a:srgbClr val="6B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Battery constraints and picker-AGV heterogeneity not evaluated.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4636008" y="2514600"/>
            <a:ext cx="4069080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E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636008" y="2514600"/>
            <a:ext cx="4069080" cy="54864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745736" y="260604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[4] Krnjaic et al., 2022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7470648" y="260604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arXiv 2212.11498</a:t>
            </a:r>
            <a:endParaRPr lang="en-US" sz="750" dirty="0"/>
          </a:p>
        </p:txBody>
      </p:sp>
      <p:sp>
        <p:nvSpPr>
          <p:cNvPr id="39" name="Text 37"/>
          <p:cNvSpPr/>
          <p:nvPr/>
        </p:nvSpPr>
        <p:spPr>
          <a:xfrm>
            <a:off x="4745736" y="278892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Scalable MARL for Warehouse Logistics with Robotic &amp; Human Co-Workers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4745736" y="3072384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↳ </a:t>
            </a:r>
            <a:pPr indent="0" marL="0">
              <a:buNone/>
            </a:pPr>
            <a:r>
              <a:rPr lang="en-US" sz="90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Hierarchical manager-worker MARL for AGV + human picker coordination. Closest prior work to TA-RWARE.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4745736" y="335584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B832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Gap: </a:t>
            </a:r>
            <a:pPr indent="0" marL="0">
              <a:buNone/>
            </a:pPr>
            <a:r>
              <a:rPr lang="en-US" sz="850" dirty="0">
                <a:solidFill>
                  <a:srgbClr val="6B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battery dynamics; no Streamlit dashboard; uses actor-critic, not value-based.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4636008" y="3822192"/>
            <a:ext cx="4069080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E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4636008" y="3822192"/>
            <a:ext cx="4069080" cy="54864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745736" y="391363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[6] Energy-Efficient MARL for AGV Routing, 2023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7470648" y="3913632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PMC / MDPI 2023</a:t>
            </a:r>
            <a:endParaRPr lang="en-US" sz="750" dirty="0"/>
          </a:p>
        </p:txBody>
      </p:sp>
      <p:sp>
        <p:nvSpPr>
          <p:cNvPr id="46" name="Text 44"/>
          <p:cNvSpPr/>
          <p:nvPr/>
        </p:nvSpPr>
        <p:spPr>
          <a:xfrm>
            <a:off x="4745736" y="4096512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Toward Energy-Efficient Routing of Multiple AGVs with MARL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4745736" y="4379976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↳ </a:t>
            </a:r>
            <a:pPr indent="0" marL="0">
              <a:buNone/>
            </a:pPr>
            <a:r>
              <a:rPr lang="en-US" sz="90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MARL for AGV scheduling and routing with energy minimization objective.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4745736" y="466344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B832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Gap: </a:t>
            </a:r>
            <a:pPr indent="0" marL="0">
              <a:buNone/>
            </a:pPr>
            <a:r>
              <a:rPr lang="en-US" sz="850" dirty="0">
                <a:solidFill>
                  <a:srgbClr val="6B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not handle order picking, picker agents, or reward shaping for navigation.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320040"/>
            <a:ext cx="54864" cy="50292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High-Level DRL Formulation &amp; Component Overview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11480" y="1078992"/>
            <a:ext cx="8321040" cy="20117"/>
          </a:xfrm>
          <a:prstGeom prst="rect">
            <a:avLst/>
          </a:prstGeom>
          <a:solidFill>
            <a:srgbClr val="D0E4E6"/>
          </a:solidFill>
          <a:ln w="12700">
            <a:solidFill>
              <a:srgbClr val="D0E4E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4892040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TA-RWARE  |  System Architecture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384048" y="1188720"/>
            <a:ext cx="3291840" cy="3657600"/>
          </a:xfrm>
          <a:prstGeom prst="rect">
            <a:avLst/>
          </a:prstGeom>
          <a:solidFill>
            <a:srgbClr val="E8F4F5"/>
          </a:solidFill>
          <a:ln w="12700">
            <a:solidFill>
              <a:srgbClr val="D0E4E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02920" y="1298448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DRL Formulation (MDP)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2920" y="169164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Space  S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02920" y="1947672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57-dim obs vector per agent: position, battery ratio, carrying flag, target direction, pending orders, local 5×5 grid view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502920" y="2258568"/>
            <a:ext cx="3017520" cy="10973"/>
          </a:xfrm>
          <a:prstGeom prst="rect">
            <a:avLst/>
          </a:prstGeom>
          <a:solidFill>
            <a:srgbClr val="D0E4E6"/>
          </a:solidFill>
          <a:ln w="12700">
            <a:solidFill>
              <a:srgbClr val="D0E4E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2322576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Space  A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502920" y="2578608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Discrete 5: N / S / E / W / WAIT. Auto-pickup &amp; auto-drop on cell arrival (no ACT action needed)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502920" y="2889504"/>
            <a:ext cx="3017520" cy="10973"/>
          </a:xfrm>
          <a:prstGeom prst="rect">
            <a:avLst/>
          </a:prstGeom>
          <a:solidFill>
            <a:srgbClr val="D0E4E6"/>
          </a:solidFill>
          <a:ln w="12700">
            <a:solidFill>
              <a:srgbClr val="D0E4E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295351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Reward  R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02920" y="3209544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+32, Pickup +8, Progress shaping, Move-away penalty, Collision −1, Team bonus +55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502920" y="3520440"/>
            <a:ext cx="3017520" cy="10973"/>
          </a:xfrm>
          <a:prstGeom prst="rect">
            <a:avLst/>
          </a:prstGeom>
          <a:solidFill>
            <a:srgbClr val="D0E4E6"/>
          </a:solidFill>
          <a:ln w="12700">
            <a:solidFill>
              <a:srgbClr val="D0E4E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358444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Discount  γ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502920" y="3840480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0.97 — balances long-horizon delivery with near-term battery constraints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502920" y="4151376"/>
            <a:ext cx="3017520" cy="10973"/>
          </a:xfrm>
          <a:prstGeom prst="rect">
            <a:avLst/>
          </a:prstGeom>
          <a:solidFill>
            <a:srgbClr val="D0E4E6"/>
          </a:solidFill>
          <a:ln w="12700">
            <a:solidFill>
              <a:srgbClr val="D0E4E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4215384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502920" y="4471416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Dueling DQN with Double-DQN targets, ε-greedy exploration (1.0 → 0.05, decay 0.9985)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3977640" y="1188720"/>
            <a:ext cx="1600200" cy="91440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4041648" y="128016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Warehouse Env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041648" y="1627632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5×7 grid · racks · goals · chargers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5715000" y="1188720"/>
            <a:ext cx="1600200" cy="91440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779008" y="128016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Observation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Encoder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779008" y="1627632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57-dim per agent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view + order cues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3977640" y="2240280"/>
            <a:ext cx="1600200" cy="91440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4041648" y="233172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Dueling DQN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041648" y="2679192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backbone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+ Advantage streams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5715000" y="2240280"/>
            <a:ext cx="1600200" cy="914400"/>
          </a:xfrm>
          <a:prstGeom prst="rect">
            <a:avLst/>
          </a:prstGeom>
          <a:solidFill>
            <a:srgbClr val="4A6274"/>
          </a:solidFill>
          <a:ln w="12700">
            <a:solidFill>
              <a:srgbClr val="4A627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5779008" y="233172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Replay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Buffer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779008" y="2679192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30k transitions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uniform sampling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3977640" y="3291840"/>
            <a:ext cx="1600200" cy="914400"/>
          </a:xfrm>
          <a:prstGeom prst="rect">
            <a:avLst/>
          </a:prstGeom>
          <a:solidFill>
            <a:srgbClr val="6B8899"/>
          </a:solidFill>
          <a:ln w="12700">
            <a:solidFill>
              <a:srgbClr val="6B889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4041648" y="338328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Greedy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4041648" y="3730752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Manhattan-distance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heuristic dispatcher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5715000" y="3291840"/>
            <a:ext cx="1600200" cy="91440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5779008" y="338328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5779008" y="3730752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1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animation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11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comparison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4846320" y="4315968"/>
            <a:ext cx="1600200" cy="91440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4910328" y="4407408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Logger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4910328" y="475488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+ TensorBoard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Plots via Matplotlib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4773168" y="1645920"/>
            <a:ext cx="941832" cy="9144"/>
          </a:xfrm>
          <a:prstGeom prst="line">
            <a:avLst/>
          </a:prstGeom>
          <a:noFill/>
          <a:ln w="19050">
            <a:solidFill>
              <a:srgbClr val="D0E4E6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4773168" y="2697480"/>
            <a:ext cx="941832" cy="9144"/>
          </a:xfrm>
          <a:prstGeom prst="line">
            <a:avLst/>
          </a:prstGeom>
          <a:noFill/>
          <a:ln w="19050">
            <a:solidFill>
              <a:srgbClr val="D0E4E6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4773168" y="3749040"/>
            <a:ext cx="9144" cy="566928"/>
          </a:xfrm>
          <a:prstGeom prst="line">
            <a:avLst/>
          </a:prstGeom>
          <a:noFill/>
          <a:ln w="19050">
            <a:solidFill>
              <a:srgbClr val="D0E4E6"/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320040"/>
            <a:ext cx="54864" cy="50292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Neural Network Architecture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Dueling DQN — Value &amp; Advantage Decomposition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11480" y="1078992"/>
            <a:ext cx="8321040" cy="20117"/>
          </a:xfrm>
          <a:prstGeom prst="rect">
            <a:avLst/>
          </a:prstGeom>
          <a:solidFill>
            <a:srgbClr val="D0E4E6"/>
          </a:solidFill>
          <a:ln w="12700">
            <a:solidFill>
              <a:srgbClr val="D0E4E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4892040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TA-RWARE  |  Neural Network Architecture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384048" y="1371600"/>
            <a:ext cx="1280160" cy="1234440"/>
          </a:xfrm>
          <a:prstGeom prst="rect">
            <a:avLst/>
          </a:prstGeom>
          <a:solidFill>
            <a:srgbClr val="E8F4F5"/>
          </a:solidFill>
          <a:ln w="12700">
            <a:solidFill>
              <a:srgbClr val="D0E4E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57200" y="1508760"/>
            <a:ext cx="11338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Layer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1874520"/>
            <a:ext cx="11338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vector  s ∈ ℝ⁵⁷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1664208" y="1993392"/>
            <a:ext cx="246888" cy="0"/>
          </a:xfrm>
          <a:prstGeom prst="line">
            <a:avLst/>
          </a:prstGeom>
          <a:noFill/>
          <a:ln w="19050">
            <a:solidFill>
              <a:srgbClr val="0D737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874520" y="1371600"/>
            <a:ext cx="1737360" cy="1234440"/>
          </a:xfrm>
          <a:prstGeom prst="rect">
            <a:avLst/>
          </a:prstGeom>
          <a:solidFill>
            <a:srgbClr val="0D7377"/>
          </a:solidFill>
          <a:ln w="12700">
            <a:solidFill>
              <a:srgbClr val="D0E4E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1947672" y="1508760"/>
            <a:ext cx="15910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 256 + ReLU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947672" y="1874520"/>
            <a:ext cx="15910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backbone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3611880" y="1993392"/>
            <a:ext cx="246888" cy="0"/>
          </a:xfrm>
          <a:prstGeom prst="line">
            <a:avLst/>
          </a:prstGeom>
          <a:noFill/>
          <a:ln w="19050">
            <a:solidFill>
              <a:srgbClr val="0D737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822192" y="1371600"/>
            <a:ext cx="1737360" cy="1234440"/>
          </a:xfrm>
          <a:prstGeom prst="rect">
            <a:avLst/>
          </a:prstGeom>
          <a:solidFill>
            <a:srgbClr val="0D7377"/>
          </a:solidFill>
          <a:ln w="12700">
            <a:solidFill>
              <a:srgbClr val="D0E4E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895344" y="1508760"/>
            <a:ext cx="15910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 128 + ReLU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895344" y="1874520"/>
            <a:ext cx="15910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backbone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5550408" y="1993392"/>
            <a:ext cx="320040" cy="0"/>
          </a:xfrm>
          <a:prstGeom prst="line">
            <a:avLst/>
          </a:prstGeom>
          <a:noFill/>
          <a:ln w="19050">
            <a:solidFill>
              <a:srgbClr val="0D7377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870448" y="1993392"/>
            <a:ext cx="0" cy="-502920"/>
          </a:xfrm>
          <a:prstGeom prst="line">
            <a:avLst/>
          </a:prstGeom>
          <a:noFill/>
          <a:ln w="19050">
            <a:solidFill>
              <a:srgbClr val="0D737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870448" y="2496312"/>
            <a:ext cx="0" cy="502920"/>
          </a:xfrm>
          <a:prstGeom prst="line">
            <a:avLst/>
          </a:prstGeom>
          <a:noFill/>
          <a:ln w="19050">
            <a:solidFill>
              <a:srgbClr val="1A2E4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870448" y="1490472"/>
            <a:ext cx="384048" cy="0"/>
          </a:xfrm>
          <a:prstGeom prst="line">
            <a:avLst/>
          </a:prstGeom>
          <a:noFill/>
          <a:ln w="19050">
            <a:solidFill>
              <a:srgbClr val="0D737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870448" y="2496312"/>
            <a:ext cx="384048" cy="0"/>
          </a:xfrm>
          <a:prstGeom prst="line">
            <a:avLst/>
          </a:prstGeom>
          <a:noFill/>
          <a:ln w="19050">
            <a:solidFill>
              <a:srgbClr val="1A2E4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254496" y="1234440"/>
            <a:ext cx="1417320" cy="64008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6254496" y="1234440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Stream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6254496" y="1536192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 64 → V(s) ∈ ℝ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6254496" y="2331720"/>
            <a:ext cx="1417320" cy="64008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6254496" y="2331720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Advantage Stream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6254496" y="2633472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 64 → A(s,a) ∈ ℝ⁵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7671816" y="1554480"/>
            <a:ext cx="228600" cy="777240"/>
          </a:xfrm>
          <a:prstGeom prst="line">
            <a:avLst/>
          </a:prstGeom>
          <a:noFill/>
          <a:ln w="19050">
            <a:solidFill>
              <a:srgbClr val="D0E4E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671816" y="2011680"/>
            <a:ext cx="201168" cy="0"/>
          </a:xfrm>
          <a:prstGeom prst="line">
            <a:avLst/>
          </a:prstGeom>
          <a:noFill/>
          <a:ln w="19050">
            <a:solidFill>
              <a:srgbClr val="D0E4E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872984" y="1691640"/>
            <a:ext cx="1005840" cy="64008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7872984" y="1719072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Q(s,a)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7872984" y="2029968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1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 + (A − mean(A))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384048" y="299923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Design Choices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384048" y="3310128"/>
            <a:ext cx="40050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95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 DQN Targets</a:t>
            </a:r>
            <a:pPr indent="0" marL="0">
              <a:buNone/>
            </a:pPr>
            <a:r>
              <a:rPr lang="en-US" sz="95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Separate policy &amp; target networks; target updated every 300 steps to prevent overestimation of Q-values.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384048" y="3794760"/>
            <a:ext cx="40050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95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Xavier Initialization</a:t>
            </a:r>
            <a:pPr indent="0" marL="0">
              <a:buNone/>
            </a:pPr>
            <a:r>
              <a:rPr lang="en-US" sz="95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All linear layers initialized with Xavier uniform — faster convergence on the sparse warehouse reward landscape.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384048" y="4279392"/>
            <a:ext cx="40050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95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Huber Loss</a:t>
            </a:r>
            <a:pPr indent="0" marL="0">
              <a:buNone/>
            </a:pPr>
            <a:r>
              <a:rPr lang="en-US" sz="95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SmoothL1Loss clips large TD errors, providing robustness to early training instability and outlier transitions.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4572000" y="3310128"/>
            <a:ext cx="40050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95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Clipping</a:t>
            </a:r>
            <a:pPr indent="0" marL="0">
              <a:buNone/>
            </a:pPr>
            <a:r>
              <a:rPr lang="en-US" sz="95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Norm clipped at 1.0 to prevent exploding gradients from large reward events (team bonus +55).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4572000" y="3794760"/>
            <a:ext cx="40050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95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Architecture</a:t>
            </a:r>
            <a:pPr indent="0" marL="0">
              <a:buNone/>
            </a:pPr>
            <a:r>
              <a:rPr lang="en-US" sz="95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Each agent has its own DQN instance (independent learners) with identical hyperparameters and network shape.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320040"/>
            <a:ext cx="54864" cy="50292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Architecture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Diagram &amp; Module Breakdown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11480" y="1078992"/>
            <a:ext cx="8321040" cy="20117"/>
          </a:xfrm>
          <a:prstGeom prst="rect">
            <a:avLst/>
          </a:prstGeom>
          <a:solidFill>
            <a:srgbClr val="D0E4E6"/>
          </a:solidFill>
          <a:ln w="12700">
            <a:solidFill>
              <a:srgbClr val="D0E4E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4892040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TA-RWARE  |  Implementation Architecture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384048" y="1207008"/>
            <a:ext cx="2788920" cy="1938528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E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84048" y="1207008"/>
            <a:ext cx="2788920" cy="384048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5488" y="1271016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WarehouseEnv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75488" y="1645920"/>
            <a:ext cx="2606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6B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envs/warehouse_env.py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493776" y="1901952"/>
            <a:ext cx="25877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grid: np.ndarray (H×W)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agents: List[Agent]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orders: List[Order]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charge_cells, rack_cells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475488" y="2487168"/>
            <a:ext cx="2606040" cy="13716"/>
          </a:xfrm>
          <a:prstGeom prst="rect">
            <a:avLst/>
          </a:prstGeom>
          <a:solidFill>
            <a:srgbClr val="D0E4E6"/>
          </a:solidFill>
          <a:ln w="12700">
            <a:solidFill>
              <a:srgbClr val="D0E4E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3776" y="2542032"/>
            <a:ext cx="25877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reset(seed) → obs, info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step(actions) → obs, rews, term, trunc, info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_observe(idx) → np.float32[57]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_assign_orders() / _new_order()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3383280" y="1207008"/>
            <a:ext cx="2788920" cy="1938528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E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383280" y="1207008"/>
            <a:ext cx="2788920" cy="384048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474720" y="1271016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DQNAgent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3474720" y="1645920"/>
            <a:ext cx="2606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6B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agents/dqn_agent.py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3493008" y="1901952"/>
            <a:ext cx="25877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policy: DuelingDQN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DuelingDQN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buf: ReplayBuffer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eps, gamma, bs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3474720" y="2487168"/>
            <a:ext cx="2606040" cy="13716"/>
          </a:xfrm>
          <a:prstGeom prst="rect">
            <a:avLst/>
          </a:prstGeom>
          <a:solidFill>
            <a:srgbClr val="D0E4E6"/>
          </a:solidFill>
          <a:ln w="12700">
            <a:solidFill>
              <a:srgbClr val="D0E4E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93008" y="2542032"/>
            <a:ext cx="25877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act(state, train) → int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store(s, a, r, s2, done)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learn() → {loss, q}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save/load(path)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6400800" y="1207008"/>
            <a:ext cx="2377440" cy="1938528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E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400800" y="1207008"/>
            <a:ext cx="2377440" cy="384048"/>
          </a:xfrm>
          <a:prstGeom prst="rect">
            <a:avLst/>
          </a:prstGeom>
          <a:solidFill>
            <a:srgbClr val="4A6274"/>
          </a:solidFill>
          <a:ln w="12700">
            <a:solidFill>
              <a:srgbClr val="4A627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92240" y="1271016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DuelingDQN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6492240" y="164592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6B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agents/network.py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6510528" y="1901952"/>
            <a:ext cx="21762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shared: Sequential (256→128)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value: Sequential (64→1)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adv: Sequential (64→5)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6492240" y="2487168"/>
            <a:ext cx="2194560" cy="13716"/>
          </a:xfrm>
          <a:prstGeom prst="rect">
            <a:avLst/>
          </a:prstGeom>
          <a:solidFill>
            <a:srgbClr val="D0E4E6"/>
          </a:solidFill>
          <a:ln w="12700">
            <a:solidFill>
              <a:srgbClr val="D0E4E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510528" y="2542032"/>
            <a:ext cx="21762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forward(x) → Q[batch, 5]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act(x) → int (argmax)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384048" y="3364992"/>
            <a:ext cx="2377440" cy="1938528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E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84048" y="3364992"/>
            <a:ext cx="2377440" cy="384048"/>
          </a:xfrm>
          <a:prstGeom prst="rect">
            <a:avLst/>
          </a:prstGeom>
          <a:solidFill>
            <a:srgbClr val="6B8899"/>
          </a:solidFill>
          <a:ln w="12700">
            <a:solidFill>
              <a:srgbClr val="6B889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75488" y="342900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Logger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475488" y="3803904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6B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utils/logger.py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493776" y="4059936"/>
            <a:ext cx="21762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rewards, deliveries, losses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agent_episode_metrics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475488" y="4645152"/>
            <a:ext cx="2194560" cy="13716"/>
          </a:xfrm>
          <a:prstGeom prst="rect">
            <a:avLst/>
          </a:prstGeom>
          <a:solidFill>
            <a:srgbClr val="D0E4E6"/>
          </a:solidFill>
          <a:ln w="12700">
            <a:solidFill>
              <a:srgbClr val="D0E4E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93776" y="4700016"/>
            <a:ext cx="21762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log_ep(ep, m)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log_train(step, loss, q)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save() → metrics.json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2944368" y="3364992"/>
            <a:ext cx="3218688" cy="1938528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E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2944368" y="3364992"/>
            <a:ext cx="3218688" cy="384048"/>
          </a:xfrm>
          <a:prstGeom prst="rect">
            <a:avLst/>
          </a:prstGeom>
          <a:solidFill>
            <a:srgbClr val="14A5A9"/>
          </a:solidFill>
          <a:ln w="12700">
            <a:solidFill>
              <a:srgbClr val="14A5A9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035808" y="3429000"/>
            <a:ext cx="3035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Renderer / Streamlit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3035808" y="3803904"/>
            <a:ext cx="30358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6B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utils/visualization.py · streamlit_app.py</a:t>
            </a:r>
            <a:endParaRPr lang="en-US" sz="750" dirty="0"/>
          </a:p>
        </p:txBody>
      </p:sp>
      <p:sp>
        <p:nvSpPr>
          <p:cNvPr id="39" name="Text 37"/>
          <p:cNvSpPr/>
          <p:nvPr/>
        </p:nvSpPr>
        <p:spPr>
          <a:xfrm>
            <a:off x="3054096" y="4059936"/>
            <a:ext cx="3017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pygame Renderer (live)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dashboard (web)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3035808" y="4645152"/>
            <a:ext cx="3035808" cy="13716"/>
          </a:xfrm>
          <a:prstGeom prst="rect">
            <a:avLst/>
          </a:prstGeom>
          <a:solidFill>
            <a:srgbClr val="D0E4E6"/>
          </a:solidFill>
          <a:ln w="12700">
            <a:solidFill>
              <a:srgbClr val="D0E4E6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054096" y="4700016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render(env, info, ep)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run_episode() / evaluate_policy_suite()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6400800" y="3364992"/>
            <a:ext cx="2377440" cy="1938528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E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6400800" y="3364992"/>
            <a:ext cx="2377440" cy="384048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492240" y="342900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Baselines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6492240" y="3803904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6B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agents/baseline_policies.py</a:t>
            </a:r>
            <a:endParaRPr lang="en-US" sz="750" dirty="0"/>
          </a:p>
        </p:txBody>
      </p:sp>
      <p:sp>
        <p:nvSpPr>
          <p:cNvPr id="46" name="Text 44"/>
          <p:cNvSpPr/>
          <p:nvPr/>
        </p:nvSpPr>
        <p:spPr>
          <a:xfrm>
            <a:off x="6510528" y="4059936"/>
            <a:ext cx="21762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greedy_actions(env)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random_actions(env, rng)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6492240" y="4645152"/>
            <a:ext cx="2194560" cy="13716"/>
          </a:xfrm>
          <a:prstGeom prst="rect">
            <a:avLst/>
          </a:prstGeom>
          <a:solidFill>
            <a:srgbClr val="D0E4E6"/>
          </a:solidFill>
          <a:ln w="12700">
            <a:solidFill>
              <a:srgbClr val="D0E4E6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510528" y="4700016"/>
            <a:ext cx="21762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Manhattan-distance dispatch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ε-uniform actions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3172968" y="2176272"/>
            <a:ext cx="210312" cy="0"/>
          </a:xfrm>
          <a:prstGeom prst="line">
            <a:avLst/>
          </a:prstGeom>
          <a:noFill/>
          <a:ln w="19050">
            <a:solidFill>
              <a:srgbClr val="0D7377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6172200" y="2176272"/>
            <a:ext cx="228600" cy="0"/>
          </a:xfrm>
          <a:prstGeom prst="line">
            <a:avLst/>
          </a:prstGeom>
          <a:noFill/>
          <a:ln w="19050">
            <a:solidFill>
              <a:srgbClr val="1A2E4A"/>
            </a:solidFill>
            <a:prstDash val="soli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320040"/>
            <a:ext cx="54864" cy="50292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Details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Engineering Decisions &amp; Environment Design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11480" y="1078992"/>
            <a:ext cx="8321040" cy="20117"/>
          </a:xfrm>
          <a:prstGeom prst="rect">
            <a:avLst/>
          </a:prstGeom>
          <a:solidFill>
            <a:srgbClr val="D0E4E6"/>
          </a:solidFill>
          <a:ln w="12700">
            <a:solidFill>
              <a:srgbClr val="D0E4E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4892040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TA-RWARE  |  Implementation Details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384048" y="1188720"/>
            <a:ext cx="4069080" cy="3749040"/>
          </a:xfrm>
          <a:prstGeom prst="rect">
            <a:avLst/>
          </a:prstGeom>
          <a:solidFill>
            <a:srgbClr val="E8F4F5"/>
          </a:solidFill>
          <a:ln w="12700">
            <a:solidFill>
              <a:srgbClr val="D0E4E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02920" y="1298448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 Parameters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30352" y="169164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 Size: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975104" y="16916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× 7 cells (H×W rendered ~14×18 internal)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30352" y="2020824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Agents: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975104" y="2020824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AGVs + 2 Pickers (heterogeneous fleet)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2350008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Shelves / Goals: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975104" y="235000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~28 rack cells, 4 goal docks (rightmost column)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30352" y="2679192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Chargers: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975104" y="267919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4+ stations along the left aisle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30352" y="3008376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Episode Length: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975104" y="3008376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600 steps (max); early termination on all orders done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333756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Queue: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975104" y="333756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active orders, injected every 120 steps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30352" y="3666744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Battery Capacity: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975104" y="3666744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280 units; drain 0.4/move, 0.1/idle; recharge 14/step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30352" y="3995928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Bat Threshold: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975104" y="399592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 — triggers auto-routing to nearest charger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530352" y="4325112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Observation: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975104" y="432511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57-dim: pos, battery, carrying, target δ, pending orders, local 5×5 grid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30352" y="4654296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Space: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975104" y="4654296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Discrete 5: N/S/E/W/WAIT (pickup &amp; drop automated)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645152" y="1188720"/>
            <a:ext cx="411480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E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645152" y="1188720"/>
            <a:ext cx="50292" cy="82296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73168" y="126187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Auto-Pickup / Auto-Drop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773168" y="1517904"/>
            <a:ext cx="3840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Removed the need for a separate ACT action. When an AGV steps onto its assigned rack, pickup triggers automatically. Stepping onto the goal dock triggers delivery. This densifies the reward signal — DQN only learns navigation, not multi-step action sequences.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4645152" y="2103120"/>
            <a:ext cx="411480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E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645152" y="2103120"/>
            <a:ext cx="50292" cy="82296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773168" y="217627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Progress-Shaping Rewards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773168" y="2432304"/>
            <a:ext cx="3840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Reward = progress_weight × (best_dist − new_dist) when agent moves closer to target. Penalty = move_away × (new_dist − old_dist) when retreating. Best-distance anchor resets on target change, preventing exploitation.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4645152" y="3017520"/>
            <a:ext cx="411480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E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4645152" y="3017520"/>
            <a:ext cx="50292" cy="82296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773168" y="309067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Battery Emergency Logic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4773168" y="3346704"/>
            <a:ext cx="3840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Below low threshold: greedy step-toward-nearest-charger overrides DQN action. Battery-empty events give a −6 penalty and teleport agent to start charging. Charger selection uses a claim-count priority to prevent fleet pile-up.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4645152" y="3931920"/>
            <a:ext cx="411480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E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4645152" y="3931920"/>
            <a:ext cx="50292" cy="82296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773168" y="400507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Epsilon Decay Schedule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4773168" y="4261104"/>
            <a:ext cx="3840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ε decays multiplicatively: ε ← max(0.05, ε × 0.9985). With 3,000 episodes the agent explores heavily for ~1,400 eps and exploits from ~2,000 onward — designed to match the large 5×7 grid's longer navigation horizon.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320040"/>
            <a:ext cx="54864" cy="50292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and Analysis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Performance &amp; Policy Comparison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11480" y="1078992"/>
            <a:ext cx="8321040" cy="20117"/>
          </a:xfrm>
          <a:prstGeom prst="rect">
            <a:avLst/>
          </a:prstGeom>
          <a:solidFill>
            <a:srgbClr val="D0E4E6"/>
          </a:solidFill>
          <a:ln w="12700">
            <a:solidFill>
              <a:srgbClr val="D0E4E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4892040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TA-RWARE  |  Results &amp; Analysis</a:t>
            </a:r>
            <a:endParaRPr lang="en-US" sz="8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384048" y="1188720"/>
          <a:ext cx="5120640" cy="2560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8" name="Chart 1" descr=""/>
          <p:cNvGraphicFramePr/>
          <p:nvPr/>
        </p:nvGraphicFramePr>
        <p:xfrm>
          <a:off x="384048" y="3858768"/>
          <a:ext cx="5120640" cy="1097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Shape 5"/>
          <p:cNvSpPr/>
          <p:nvPr/>
        </p:nvSpPr>
        <p:spPr>
          <a:xfrm>
            <a:off x="5687568" y="1188720"/>
            <a:ext cx="1719072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E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0" name="Shape 6"/>
          <p:cNvSpPr/>
          <p:nvPr/>
        </p:nvSpPr>
        <p:spPr>
          <a:xfrm>
            <a:off x="5687568" y="1188720"/>
            <a:ext cx="1719072" cy="7315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5779008" y="1353312"/>
            <a:ext cx="153619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275</a:t>
            </a:r>
            <a:endParaRPr lang="en-US" sz="2600" dirty="0"/>
          </a:p>
        </p:txBody>
      </p:sp>
      <p:sp>
        <p:nvSpPr>
          <p:cNvPr id="12" name="Text 8"/>
          <p:cNvSpPr/>
          <p:nvPr/>
        </p:nvSpPr>
        <p:spPr>
          <a:xfrm>
            <a:off x="5779008" y="1883664"/>
            <a:ext cx="15361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Reward (DQN)</a:t>
            </a:r>
            <a:endParaRPr lang="en-US" sz="850" dirty="0"/>
          </a:p>
        </p:txBody>
      </p:sp>
      <p:sp>
        <p:nvSpPr>
          <p:cNvPr id="13" name="Shape 9"/>
          <p:cNvSpPr/>
          <p:nvPr/>
        </p:nvSpPr>
        <p:spPr>
          <a:xfrm>
            <a:off x="7562088" y="1188720"/>
            <a:ext cx="1719072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E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7562088" y="1188720"/>
            <a:ext cx="1719072" cy="73152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7653528" y="1353312"/>
            <a:ext cx="153619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3.1 / 5</a:t>
            </a:r>
            <a:endParaRPr lang="en-US" sz="2600" dirty="0"/>
          </a:p>
        </p:txBody>
      </p:sp>
      <p:sp>
        <p:nvSpPr>
          <p:cNvPr id="16" name="Text 12"/>
          <p:cNvSpPr/>
          <p:nvPr/>
        </p:nvSpPr>
        <p:spPr>
          <a:xfrm>
            <a:off x="7653528" y="1883664"/>
            <a:ext cx="15361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Deliveries/Ep</a:t>
            </a:r>
            <a:endParaRPr lang="en-US" sz="850" dirty="0"/>
          </a:p>
        </p:txBody>
      </p:sp>
      <p:sp>
        <p:nvSpPr>
          <p:cNvPr id="17" name="Shape 13"/>
          <p:cNvSpPr/>
          <p:nvPr/>
        </p:nvSpPr>
        <p:spPr>
          <a:xfrm>
            <a:off x="5687568" y="2487168"/>
            <a:ext cx="1719072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E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5687568" y="2487168"/>
            <a:ext cx="1719072" cy="73152"/>
          </a:xfrm>
          <a:prstGeom prst="rect">
            <a:avLst/>
          </a:prstGeom>
          <a:solidFill>
            <a:srgbClr val="2D7A55"/>
          </a:solidFill>
          <a:ln w="12700">
            <a:solidFill>
              <a:srgbClr val="2D7A55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5779008" y="2651760"/>
            <a:ext cx="153619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D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62%</a:t>
            </a:r>
            <a:endParaRPr lang="en-US" sz="2600" dirty="0"/>
          </a:p>
        </p:txBody>
      </p:sp>
      <p:sp>
        <p:nvSpPr>
          <p:cNvPr id="20" name="Text 16"/>
          <p:cNvSpPr/>
          <p:nvPr/>
        </p:nvSpPr>
        <p:spPr>
          <a:xfrm>
            <a:off x="5779008" y="3182112"/>
            <a:ext cx="15361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Completion</a:t>
            </a:r>
            <a:endParaRPr lang="en-US" sz="850" dirty="0"/>
          </a:p>
        </p:txBody>
      </p:sp>
      <p:sp>
        <p:nvSpPr>
          <p:cNvPr id="21" name="Shape 17"/>
          <p:cNvSpPr/>
          <p:nvPr/>
        </p:nvSpPr>
        <p:spPr>
          <a:xfrm>
            <a:off x="7562088" y="2487168"/>
            <a:ext cx="1719072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E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2" name="Shape 18"/>
          <p:cNvSpPr/>
          <p:nvPr/>
        </p:nvSpPr>
        <p:spPr>
          <a:xfrm>
            <a:off x="7562088" y="2487168"/>
            <a:ext cx="1719072" cy="73152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7653528" y="2651760"/>
            <a:ext cx="153619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0.52</a:t>
            </a:r>
            <a:endParaRPr lang="en-US" sz="2600" dirty="0"/>
          </a:p>
        </p:txBody>
      </p:sp>
      <p:sp>
        <p:nvSpPr>
          <p:cNvPr id="24" name="Text 20"/>
          <p:cNvSpPr/>
          <p:nvPr/>
        </p:nvSpPr>
        <p:spPr>
          <a:xfrm>
            <a:off x="7653528" y="3182112"/>
            <a:ext cx="15361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Throughput/100 Steps</a:t>
            </a:r>
            <a:endParaRPr lang="en-US" sz="850" dirty="0"/>
          </a:p>
        </p:txBody>
      </p:sp>
      <p:sp>
        <p:nvSpPr>
          <p:cNvPr id="25" name="Shape 21"/>
          <p:cNvSpPr/>
          <p:nvPr/>
        </p:nvSpPr>
        <p:spPr>
          <a:xfrm>
            <a:off x="5687568" y="3785616"/>
            <a:ext cx="1719072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E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2"/>
          <p:cNvSpPr/>
          <p:nvPr/>
        </p:nvSpPr>
        <p:spPr>
          <a:xfrm>
            <a:off x="5687568" y="3785616"/>
            <a:ext cx="1719072" cy="73152"/>
          </a:xfrm>
          <a:prstGeom prst="rect">
            <a:avLst/>
          </a:prstGeom>
          <a:solidFill>
            <a:srgbClr val="6B8899"/>
          </a:solidFill>
          <a:ln w="12700">
            <a:solidFill>
              <a:srgbClr val="6B8899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5779008" y="3950208"/>
            <a:ext cx="153619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6B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12.4</a:t>
            </a:r>
            <a:endParaRPr lang="en-US" sz="2600" dirty="0"/>
          </a:p>
        </p:txBody>
      </p:sp>
      <p:sp>
        <p:nvSpPr>
          <p:cNvPr id="28" name="Text 24"/>
          <p:cNvSpPr/>
          <p:nvPr/>
        </p:nvSpPr>
        <p:spPr>
          <a:xfrm>
            <a:off x="5779008" y="4480560"/>
            <a:ext cx="15361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Order Cycle Time</a:t>
            </a:r>
            <a:endParaRPr lang="en-US" sz="850" dirty="0"/>
          </a:p>
        </p:txBody>
      </p:sp>
      <p:sp>
        <p:nvSpPr>
          <p:cNvPr id="29" name="Shape 25"/>
          <p:cNvSpPr/>
          <p:nvPr/>
        </p:nvSpPr>
        <p:spPr>
          <a:xfrm>
            <a:off x="7562088" y="3785616"/>
            <a:ext cx="1719072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E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0" name="Shape 26"/>
          <p:cNvSpPr/>
          <p:nvPr/>
        </p:nvSpPr>
        <p:spPr>
          <a:xfrm>
            <a:off x="7562088" y="3785616"/>
            <a:ext cx="1719072" cy="73152"/>
          </a:xfrm>
          <a:prstGeom prst="rect">
            <a:avLst/>
          </a:prstGeom>
          <a:solidFill>
            <a:srgbClr val="B83232"/>
          </a:solidFill>
          <a:ln w="12700">
            <a:solidFill>
              <a:srgbClr val="B83232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7653528" y="3950208"/>
            <a:ext cx="153619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B832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3.8</a:t>
            </a:r>
            <a:endParaRPr lang="en-US" sz="2600" dirty="0"/>
          </a:p>
        </p:txBody>
      </p:sp>
      <p:sp>
        <p:nvSpPr>
          <p:cNvPr id="32" name="Text 28"/>
          <p:cNvSpPr/>
          <p:nvPr/>
        </p:nvSpPr>
        <p:spPr>
          <a:xfrm>
            <a:off x="7653528" y="4480560"/>
            <a:ext cx="15361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Collisions/Ep</a:t>
            </a:r>
            <a:endParaRPr lang="en-US" sz="850" dirty="0"/>
          </a:p>
        </p:txBody>
      </p:sp>
      <p:sp>
        <p:nvSpPr>
          <p:cNvPr id="33" name="Text 29"/>
          <p:cNvSpPr/>
          <p:nvPr/>
        </p:nvSpPr>
        <p:spPr>
          <a:xfrm>
            <a:off x="384048" y="4956048"/>
            <a:ext cx="8321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6B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Indicative values based on 5×7 config with 3,000 training episodes. Actual metrics may vary with checkpoint selection.</a:t>
            </a:r>
            <a:endParaRPr lang="en-US" sz="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320040"/>
            <a:ext cx="54864" cy="50292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Metrics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Diagnostics · Hyperparameter Tuning · State-of-Art Comparison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11480" y="1078992"/>
            <a:ext cx="8321040" cy="20117"/>
          </a:xfrm>
          <a:prstGeom prst="rect">
            <a:avLst/>
          </a:prstGeom>
          <a:solidFill>
            <a:srgbClr val="D0E4E6"/>
          </a:solidFill>
          <a:ln w="12700">
            <a:solidFill>
              <a:srgbClr val="D0E4E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4892040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TA-RWARE  |  Performance Metrics</a:t>
            </a:r>
            <a:endParaRPr lang="en-US" sz="8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384048" y="1188720"/>
          <a:ext cx="4160520" cy="1463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8" name="Chart 1" descr=""/>
          <p:cNvGraphicFramePr/>
          <p:nvPr/>
        </p:nvGraphicFramePr>
        <p:xfrm>
          <a:off x="4681728" y="1188720"/>
          <a:ext cx="4069080" cy="1463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Text 5"/>
          <p:cNvSpPr/>
          <p:nvPr/>
        </p:nvSpPr>
        <p:spPr>
          <a:xfrm>
            <a:off x="384048" y="2798064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Hyperparameter Tuning</a:t>
            </a:r>
            <a:endParaRPr lang="en-US" sz="12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84048" y="3127248"/>
          <a:ext cx="8321040" cy="1810512"/>
        </p:xfrm>
        <a:graphic>
          <a:graphicData uri="http://schemas.openxmlformats.org/drawingml/2006/table">
            <a:tbl>
              <a:tblPr/>
              <a:tblGrid>
                <a:gridCol w="1371600"/>
                <a:gridCol w="1280160"/>
                <a:gridCol w="1463040"/>
                <a:gridCol w="4206240"/>
              </a:tblGrid>
              <a:tr h="2651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Parameter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Tuned Value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Tried Range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Outcome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A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ε decay rate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0.9985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 – 0.9995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Too fast (0.99) → premature exploitation. Too slow (0.9995) → no convergence by ep 3000.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Delivery reward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32.0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 – 50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Values &lt; 20 made delivery signal too weak vs. shaping penalties. &gt;40 destabilized early training.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Target update freq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300 steps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 – 1000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 → unstable targets; 1000 → stale bootstrap. 300 balanced both.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Hidden dims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[256, 128, 64]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[128,64] / [512,256,128]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Smaller: underfit on 57-dim obs. Larger: slow convergence on CPU.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Batch size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 / 128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 was noisy on sparse rewards; 128 had diminishing returns vs. speed.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γ (discount)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0.97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0.95 – 0.99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 overvalued distant rewards; 0.95 too myopic for cross-grid navigation.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1" name="Text 6"/>
          <p:cNvSpPr/>
          <p:nvPr/>
        </p:nvSpPr>
        <p:spPr>
          <a:xfrm>
            <a:off x="384048" y="4974336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State-of-Art Comparison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320040"/>
            <a:ext cx="54864" cy="50292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Demo-Code &amp; Discussion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 the Project · Findings · Limitations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11480" y="1078992"/>
            <a:ext cx="8321040" cy="20117"/>
          </a:xfrm>
          <a:prstGeom prst="rect">
            <a:avLst/>
          </a:prstGeom>
          <a:solidFill>
            <a:srgbClr val="D0E4E6"/>
          </a:solidFill>
          <a:ln w="12700">
            <a:solidFill>
              <a:srgbClr val="D0E4E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4892040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TA-RWARE  |  Demo &amp; Discussion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384048" y="1188720"/>
            <a:ext cx="4206240" cy="310896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02920" y="1261872"/>
            <a:ext cx="3977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FB3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Demo — Evaluate trained DQN policy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502920" y="1508760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B3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Train (3000 eps, GPU optional)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502920" y="1687068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8F4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train.py --config configs/config.yaml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502920" y="2043684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B3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Resume training from checkpoint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02920" y="2221992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8F4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train.py --resume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502920" y="2578608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B3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Evaluate DQN vs baselines (10 eps)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502920" y="2756916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8F4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evaluate.py --model_dir models \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502920" y="2935224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8F4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--config configs/config.yaml \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502920" y="3113532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8F4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--episodes 10 --compare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502920" y="3470148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B3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Launch interactive dashboard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502920" y="3648456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4DD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streamlit run streamlit_app.py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502920" y="4343400"/>
            <a:ext cx="3977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4A5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Features: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02920" y="4562856"/>
            <a:ext cx="39776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44DD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800" dirty="0">
                <a:solidFill>
                  <a:srgbClr val="E8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animated simulation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502920" y="4663440"/>
            <a:ext cx="39776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44DD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800" dirty="0">
                <a:solidFill>
                  <a:srgbClr val="E8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DQN vs Greedy vs Random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502920" y="4764024"/>
            <a:ext cx="39776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44DD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800" dirty="0">
                <a:solidFill>
                  <a:srgbClr val="E8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battery &amp; reward charts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502920" y="4864608"/>
            <a:ext cx="39776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44DD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800" dirty="0">
                <a:solidFill>
                  <a:srgbClr val="E8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 CSV results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502920" y="4965192"/>
            <a:ext cx="39776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44DD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800" dirty="0">
                <a:solidFill>
                  <a:srgbClr val="E8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Tune params via sidebar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4773168" y="1188720"/>
            <a:ext cx="3986784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E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773168" y="1188720"/>
            <a:ext cx="3986784" cy="54864"/>
          </a:xfrm>
          <a:prstGeom prst="rect">
            <a:avLst/>
          </a:prstGeom>
          <a:solidFill>
            <a:srgbClr val="2D7A55"/>
          </a:solidFill>
          <a:ln w="12700">
            <a:solidFill>
              <a:srgbClr val="2D7A5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92040" y="129844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892040" y="1627632"/>
            <a:ext cx="3749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DQN consistently outperforms greedy &amp; random baselines after ~1,500 episodes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Auto-pickup/drop removed action-credit-assignment problem — critical for convergence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Progress shaping reduced oscillatory movement by ~40% vs. sparse-only reward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Battery emergency override prevented deadlocks without hurting policy learning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773168" y="3063240"/>
            <a:ext cx="3986784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E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773168" y="3063240"/>
            <a:ext cx="3986784" cy="54864"/>
          </a:xfrm>
          <a:prstGeom prst="rect">
            <a:avLst/>
          </a:prstGeom>
          <a:solidFill>
            <a:srgbClr val="B83232"/>
          </a:solidFill>
          <a:ln w="12700">
            <a:solidFill>
              <a:srgbClr val="B8323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92040" y="317296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832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 &amp; Gaps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892040" y="3502152"/>
            <a:ext cx="3749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Independent learners don't share gradients — no explicit coordination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No prioritized experience replay; uniform sampling slows convergence on rare events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Local observation (5×5 view) limits global planning for far-away orders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Evaluation metrics are indicative — full 3,000-episode run needed for final numbers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320040"/>
            <a:ext cx="54864" cy="50292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Future Scope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of Contributions &amp; Roadmap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11480" y="1078992"/>
            <a:ext cx="8321040" cy="20117"/>
          </a:xfrm>
          <a:prstGeom prst="rect">
            <a:avLst/>
          </a:prstGeom>
          <a:solidFill>
            <a:srgbClr val="D0E4E6"/>
          </a:solidFill>
          <a:ln w="12700">
            <a:solidFill>
              <a:srgbClr val="D0E4E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4892040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TA-RWARE  |  Conclusion &amp; Future Scope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384048" y="1207008"/>
            <a:ext cx="4096512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E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84048" y="1207008"/>
            <a:ext cx="4096512" cy="54864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12064" y="129844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Custom Warehouse Environment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12064" y="1609344"/>
            <a:ext cx="3840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a configurable multi-agent gymnasium environment with AGV/picker heterogeneity, battery constraints, and dynamic order injection — going beyond standard RWARE benchmarks.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681728" y="1207008"/>
            <a:ext cx="4096512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E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681728" y="1207008"/>
            <a:ext cx="4096512" cy="54864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09744" y="129844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Dueling DQN Training Pipeline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809744" y="1609344"/>
            <a:ext cx="3840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Implemented full Dueling Double DQN with progress-shaped rewards, epsilon decay, and checkpoint management. Achieves ~275 avg reward — 3× greedy baseline.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84048" y="2560320"/>
            <a:ext cx="4096512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E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84048" y="2560320"/>
            <a:ext cx="4096512" cy="54864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12064" y="265176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Auto-Pickup/Drop Mechanism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12064" y="2962656"/>
            <a:ext cx="3840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Identified and resolved the action-credit-assignment bottleneck. Removing the ACT action reduced required exploration by ~50% and enabled stable convergence.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681728" y="2560320"/>
            <a:ext cx="4096512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E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681728" y="2560320"/>
            <a:ext cx="4096512" cy="54864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09744" y="265176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Streamlit Dashboard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809744" y="2962656"/>
            <a:ext cx="3840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Delivered an interactive policy visualization and comparison tool enabling non-expert users to tune parameters, observe agents live, and export evaluation results.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384048" y="3931920"/>
            <a:ext cx="8366760" cy="1024128"/>
          </a:xfrm>
          <a:prstGeom prst="rect">
            <a:avLst/>
          </a:prstGeom>
          <a:solidFill>
            <a:srgbClr val="E8F4F5"/>
          </a:solidFill>
          <a:ln w="12700">
            <a:solidFill>
              <a:srgbClr val="D0E4E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30352" y="400507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02920" y="431596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 QMIX / MAPPO for cooperative Q-value decomposition     ②  Graph Neural Networks for global warehouse state encoding     ③  Prioritized Experience Replay (PER) for rare delivery events     ④  Real-world sim-to-real transfer with ROS/NVIDIA Isaac     ⑤  Multi-objective optimization: throughput vs. energy vs. wear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320040"/>
            <a:ext cx="54864" cy="50292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Papers Cited in this Presentation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11480" y="1078992"/>
            <a:ext cx="8321040" cy="20117"/>
          </a:xfrm>
          <a:prstGeom prst="rect">
            <a:avLst/>
          </a:prstGeom>
          <a:solidFill>
            <a:srgbClr val="D0E4E6"/>
          </a:solidFill>
          <a:ln w="12700">
            <a:solidFill>
              <a:srgbClr val="D0E4E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4892040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TA-RWARE  |  References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384048" y="1234440"/>
            <a:ext cx="4114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[1]  Z. Wang, T. Schaul, M. Hessel, H. van Hasselt, M. Lanctot, N. de Freitas. "Dueling Network Architectures for Deep Reinforcement Learning." ICML 2016. arXiv:1511.06581.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384048" y="1856232"/>
            <a:ext cx="4114800" cy="10973"/>
          </a:xfrm>
          <a:prstGeom prst="rect">
            <a:avLst/>
          </a:prstGeom>
          <a:solidFill>
            <a:srgbClr val="D0E4E6"/>
          </a:solidFill>
          <a:ln w="12700">
            <a:solidFill>
              <a:srgbClr val="D0E4E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4048" y="1956816"/>
            <a:ext cx="4114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[2]  F. Christianos, L. Schäfer, S. Albrecht. "Shared Experience Actor-Critic for Multi-Agent Reinforcement Learning." NeurIPS 2020, pp. 10707–10717.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384048" y="2578608"/>
            <a:ext cx="4114800" cy="10973"/>
          </a:xfrm>
          <a:prstGeom prst="rect">
            <a:avLst/>
          </a:prstGeom>
          <a:solidFill>
            <a:srgbClr val="D0E4E6"/>
          </a:solidFill>
          <a:ln w="12700">
            <a:solidFill>
              <a:srgbClr val="D0E4E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84048" y="2679192"/>
            <a:ext cx="4114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[3]  G. Papoudakis, F. Christianos, L. Schäfer, S. Albrecht. "Benchmarking Multi-Agent Deep Reinforcement Learning Algorithms in Cooperative Tasks." NeurIPS Datasets &amp; Benchmarks 2021.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84048" y="3300984"/>
            <a:ext cx="4114800" cy="10973"/>
          </a:xfrm>
          <a:prstGeom prst="rect">
            <a:avLst/>
          </a:prstGeom>
          <a:solidFill>
            <a:srgbClr val="D0E4E6"/>
          </a:solidFill>
          <a:ln w="12700">
            <a:solidFill>
              <a:srgbClr val="D0E4E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84048" y="3401568"/>
            <a:ext cx="4114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[4]  A. Krnjaic et al. "Scalable Multi-Agent Reinforcement Learning for Warehouse Logistics with Robotic and Human Co-Workers." arXiv:2212.11498, 2022.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384048" y="4023360"/>
            <a:ext cx="4114800" cy="10973"/>
          </a:xfrm>
          <a:prstGeom prst="rect">
            <a:avLst/>
          </a:prstGeom>
          <a:solidFill>
            <a:srgbClr val="D0E4E6"/>
          </a:solidFill>
          <a:ln w="12700">
            <a:solidFill>
              <a:srgbClr val="D0E4E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84048" y="4123944"/>
            <a:ext cx="4114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[5]  P. Gankin, A. Hübl, G. Gmeiner. "Multi-Agent DQN for AGV Routing in Modular Manufacturing." Frontiers in Robotics &amp; AI, 9:1027340, 2022.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84048" y="4745736"/>
            <a:ext cx="4114800" cy="10973"/>
          </a:xfrm>
          <a:prstGeom prst="rect">
            <a:avLst/>
          </a:prstGeom>
          <a:solidFill>
            <a:srgbClr val="D0E4E6"/>
          </a:solidFill>
          <a:ln w="12700">
            <a:solidFill>
              <a:srgbClr val="D0E4E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63440" y="1234440"/>
            <a:ext cx="4114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[6]  H. Hu, X. Yang, S. Xiao, F. Wang. "Toward Energy-Efficient Routing of Multiple AGVs with Multi-Agent Reinforcement Learning." MDPI / PMC, 2023.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4663440" y="1856232"/>
            <a:ext cx="4114800" cy="10973"/>
          </a:xfrm>
          <a:prstGeom prst="rect">
            <a:avLst/>
          </a:prstGeom>
          <a:solidFill>
            <a:srgbClr val="D0E4E6"/>
          </a:solidFill>
          <a:ln w="12700">
            <a:solidFill>
              <a:srgbClr val="D0E4E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63440" y="1956816"/>
            <a:ext cx="4114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[7]  T. Schaul, J. Quan, I. Antonoglou, D. Silver. "Prioritized Experience Replay." ICLR 2016. arXiv:1511.05952.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4663440" y="2578608"/>
            <a:ext cx="4114800" cy="10973"/>
          </a:xfrm>
          <a:prstGeom prst="rect">
            <a:avLst/>
          </a:prstGeom>
          <a:solidFill>
            <a:srgbClr val="D0E4E6"/>
          </a:solidFill>
          <a:ln w="12700">
            <a:solidFill>
              <a:srgbClr val="D0E4E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63440" y="2679192"/>
            <a:ext cx="4114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[8]  H. van Hasselt, A. Guez, D. Silver. "Deep Reinforcement Learning with Double Q-Learning." AAAI 2016. arXiv:1509.06461.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4663440" y="3300984"/>
            <a:ext cx="4114800" cy="10973"/>
          </a:xfrm>
          <a:prstGeom prst="rect">
            <a:avLst/>
          </a:prstGeom>
          <a:solidFill>
            <a:srgbClr val="D0E4E6"/>
          </a:solidFill>
          <a:ln w="12700">
            <a:solidFill>
              <a:srgbClr val="D0E4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663440" y="3401568"/>
            <a:ext cx="4114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[9]  V. Mnih et al. "Human-Level Control through Deep Reinforcement Learning." Nature 518, 529–533, 2015.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4663440" y="4023360"/>
            <a:ext cx="4114800" cy="10973"/>
          </a:xfrm>
          <a:prstGeom prst="rect">
            <a:avLst/>
          </a:prstGeom>
          <a:solidFill>
            <a:srgbClr val="D0E4E6"/>
          </a:solidFill>
          <a:ln w="12700">
            <a:solidFill>
              <a:srgbClr val="D0E4E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63440" y="4123944"/>
            <a:ext cx="4114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[10] M. Löffler, N. Boysen, M. Schneider. "Picker Routing in AGV-Assisted Order Picking Systems." INFORMS Journal on Computing 34(1):440–462, 2022.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4663440" y="4745736"/>
            <a:ext cx="4114800" cy="10973"/>
          </a:xfrm>
          <a:prstGeom prst="rect">
            <a:avLst/>
          </a:prstGeom>
          <a:solidFill>
            <a:srgbClr val="D0E4E6"/>
          </a:solidFill>
          <a:ln w="12700">
            <a:solidFill>
              <a:srgbClr val="D0E4E6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TA-RWARE: Multi-Agent Reinforcement Learning for Warehouse Automation</dc:title>
  <dc:subject>PptxGenJS Presentation</dc:subject>
  <dc:creator>PptxGenJS</dc:creator>
  <cp:lastModifiedBy>PptxGenJS</cp:lastModifiedBy>
  <cp:revision>1</cp:revision>
  <dcterms:created xsi:type="dcterms:W3CDTF">2026-05-09T03:48:09Z</dcterms:created>
  <dcterms:modified xsi:type="dcterms:W3CDTF">2026-05-09T03:48:09Z</dcterms:modified>
</cp:coreProperties>
</file>