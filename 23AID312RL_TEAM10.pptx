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82" r:id="rId18"/>
    <p:sldId id="283" r:id="rId19"/>
    <p:sldId id="284" r:id="rId20"/>
    <p:sldId id="285" r:id="rId21"/>
    <p:sldId id="273" r:id="rId22"/>
    <p:sldId id="274" r:id="rId23"/>
    <p:sldId id="275" r:id="rId24"/>
    <p:sldId id="276" r:id="rId25"/>
    <p:sldId id="277" r:id="rId26"/>
    <p:sldId id="278" r:id="rId27"/>
    <p:sldId id="280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744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83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38FB-C9DD-2BEF-4931-BC905F0F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DE68A-D021-4C0E-E14B-777B22263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9C509-0368-55D8-52C1-1C5D3D056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4D6E-E280-6DD6-4738-FBE76F18B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49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E268-F8AF-EF38-F5E1-CD99716D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75F54-BC06-62C8-B4C6-AC966EDD6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55DF3-62A9-61DE-F58D-0AF41EF81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63433-39DA-C935-2432-C780DD79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85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EFD7E-7CCE-FCAF-9963-F02B3E52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FFA7C-6C26-A5CE-F0F5-562158F7A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F9D9D-8EA7-E183-5B99-6981DCCD5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A2EED-50EF-68A7-09B3-772E33C95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00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DBA6-2C00-711D-CF7F-AD98026AC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7D2DF-7807-2629-7A1F-F3FF5F02D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88698-85A6-C05F-8C82-2E550BA9A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A6181-6345-F22F-2957-82745E43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62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DCAF-83F0-10BD-1EF5-CC957DE2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A7A80-F628-0D73-A1DF-79F48FF00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2DC2B-0EAC-DFBA-164F-9AE30EA22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BA20D-A6DB-D49F-2E7C-049695F57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9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182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3448" y="276910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5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3448" y="27691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23AID312  ·  Reinforcement Learning  ·  Team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1283208"/>
            <a:ext cx="85389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Robot Task Allocation 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86028" y="203530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Task-Allocation Reinforcement Learning for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Autonomous Routing &amp; 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" y="4828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Project Evaluation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Contents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85800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685800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184" y="795528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" y="777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formulation, novelty, real-world motivation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47872" y="1033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36592" y="685800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36592" y="685800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09744" y="795528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9744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39512" y="777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9512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papers, contributions, gaps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28432" y="1033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1481328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6032" y="148132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9184" y="1591056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pipeline, component diagram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47872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1481328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36592" y="148132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09744" y="1591056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09744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9512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Design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9512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architecture, design rationale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28432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2276856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6032" y="2276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9184" y="2386584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952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agents, training loop, dashboard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47872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36592" y="2276856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36592" y="2276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09744" y="2386584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0974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39512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39512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step(), learn(), shaping, observation builder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28432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13–15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" y="3072384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56032" y="3072384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29184" y="3182112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918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8952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curves, policy comparison, agent metrics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547872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16–19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36592" y="3072384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36592" y="3072384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09744" y="3182112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0974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39512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39512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choices, ablation evidence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028432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20–21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" y="3867912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256032" y="3867912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329184" y="3977640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9184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8952" y="3959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Limitations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58952" y="4215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gaps, future scope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547872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22–23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028432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</a:t>
            </a:r>
            <a:endParaRPr lang="en-US" sz="800" dirty="0"/>
          </a:p>
        </p:txBody>
      </p:sp>
      <p:sp>
        <p:nvSpPr>
          <p:cNvPr id="85" name="Shape 76"/>
          <p:cNvSpPr/>
          <p:nvPr/>
        </p:nvSpPr>
        <p:spPr>
          <a:xfrm>
            <a:off x="4736592" y="3878885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77"/>
          <p:cNvSpPr/>
          <p:nvPr/>
        </p:nvSpPr>
        <p:spPr>
          <a:xfrm>
            <a:off x="4736592" y="3878885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78"/>
          <p:cNvSpPr/>
          <p:nvPr/>
        </p:nvSpPr>
        <p:spPr>
          <a:xfrm>
            <a:off x="4809744" y="3988613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79"/>
          <p:cNvSpPr/>
          <p:nvPr/>
        </p:nvSpPr>
        <p:spPr>
          <a:xfrm>
            <a:off x="4809744" y="39886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9" name="Text 80"/>
          <p:cNvSpPr/>
          <p:nvPr/>
        </p:nvSpPr>
        <p:spPr>
          <a:xfrm>
            <a:off x="5239512" y="3970325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90" name="Text 81"/>
          <p:cNvSpPr/>
          <p:nvPr/>
        </p:nvSpPr>
        <p:spPr>
          <a:xfrm>
            <a:off x="5239512" y="422635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papers with links</a:t>
            </a:r>
            <a:endParaRPr lang="en-US" sz="850" dirty="0"/>
          </a:p>
        </p:txBody>
      </p:sp>
      <p:sp>
        <p:nvSpPr>
          <p:cNvPr id="91" name="Text 82"/>
          <p:cNvSpPr/>
          <p:nvPr/>
        </p:nvSpPr>
        <p:spPr>
          <a:xfrm>
            <a:off x="8028432" y="422635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Novelty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Problem Statement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94944"/>
            <a:ext cx="50292" cy="65836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740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Manual Dispatch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10149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operators fail to adapt allocation to changing battery levels, order queues, and congestion — leading to idle AGVs and late deliveries.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581912"/>
            <a:ext cx="50292" cy="65836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627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Charging Conflicts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" y="19019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approaches route AGVs to the nearest order ignoring battery state. Fleet-wide depletion creates deadlock.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468880"/>
            <a:ext cx="5029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2336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Agent Roles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" y="2788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execute deliveries; pickers assist at docks. No prior RWARE benchmark includes asymmetric role-based reward.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355848"/>
            <a:ext cx="5029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2336" y="3401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Reward / Credit Assignment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2336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separate ACT action the agent must learn a 4-step sequence. Credit for early actions is only realised steps later.</a:t>
            </a:r>
            <a:endParaRPr lang="en-US" sz="900" dirty="0"/>
          </a:p>
        </p:txBody>
      </p:sp>
      <p:sp>
        <p:nvSpPr>
          <p:cNvPr id="43" name="Shape 17"/>
          <p:cNvSpPr/>
          <p:nvPr/>
        </p:nvSpPr>
        <p:spPr>
          <a:xfrm>
            <a:off x="5577840" y="713232"/>
            <a:ext cx="3246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18"/>
          <p:cNvSpPr/>
          <p:nvPr/>
        </p:nvSpPr>
        <p:spPr>
          <a:xfrm>
            <a:off x="5577840" y="713232"/>
            <a:ext cx="324612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19"/>
          <p:cNvSpPr/>
          <p:nvPr/>
        </p:nvSpPr>
        <p:spPr>
          <a:xfrm>
            <a:off x="5705856" y="850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46" name="Shape 20"/>
          <p:cNvSpPr/>
          <p:nvPr/>
        </p:nvSpPr>
        <p:spPr>
          <a:xfrm>
            <a:off x="5705856" y="1234440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21"/>
          <p:cNvSpPr/>
          <p:nvPr/>
        </p:nvSpPr>
        <p:spPr>
          <a:xfrm>
            <a:off x="5705856" y="1234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22"/>
          <p:cNvSpPr/>
          <p:nvPr/>
        </p:nvSpPr>
        <p:spPr>
          <a:xfrm>
            <a:off x="5998464" y="1234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configurable grid-world warehouse env with battery dynamics &amp; order queues</a:t>
            </a:r>
            <a:endParaRPr lang="en-US" sz="900" dirty="0"/>
          </a:p>
        </p:txBody>
      </p:sp>
      <p:sp>
        <p:nvSpPr>
          <p:cNvPr id="49" name="Shape 23"/>
          <p:cNvSpPr/>
          <p:nvPr/>
        </p:nvSpPr>
        <p:spPr>
          <a:xfrm>
            <a:off x="5705856" y="1892808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24"/>
          <p:cNvSpPr/>
          <p:nvPr/>
        </p:nvSpPr>
        <p:spPr>
          <a:xfrm>
            <a:off x="5705856" y="1892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25"/>
          <p:cNvSpPr/>
          <p:nvPr/>
        </p:nvSpPr>
        <p:spPr>
          <a:xfrm>
            <a:off x="5998464" y="18928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Dueling DQN for heterogeneous AGV + picker coordination</a:t>
            </a:r>
            <a:endParaRPr lang="en-US" sz="900" dirty="0"/>
          </a:p>
        </p:txBody>
      </p:sp>
      <p:sp>
        <p:nvSpPr>
          <p:cNvPr id="52" name="Shape 26"/>
          <p:cNvSpPr/>
          <p:nvPr/>
        </p:nvSpPr>
        <p:spPr>
          <a:xfrm>
            <a:off x="5705856" y="2551176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27"/>
          <p:cNvSpPr/>
          <p:nvPr/>
        </p:nvSpPr>
        <p:spPr>
          <a:xfrm>
            <a:off x="5705856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28"/>
          <p:cNvSpPr/>
          <p:nvPr/>
        </p:nvSpPr>
        <p:spPr>
          <a:xfrm>
            <a:off x="5998464" y="25511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auto-pickup/drop to remove the ACT-action bottleneck</a:t>
            </a:r>
            <a:endParaRPr lang="en-US" sz="900" dirty="0"/>
          </a:p>
        </p:txBody>
      </p:sp>
      <p:sp>
        <p:nvSpPr>
          <p:cNvPr id="55" name="Shape 29"/>
          <p:cNvSpPr/>
          <p:nvPr/>
        </p:nvSpPr>
        <p:spPr>
          <a:xfrm>
            <a:off x="5705856" y="3209544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30"/>
          <p:cNvSpPr/>
          <p:nvPr/>
        </p:nvSpPr>
        <p:spPr>
          <a:xfrm>
            <a:off x="5705856" y="3209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Text 31"/>
          <p:cNvSpPr/>
          <p:nvPr/>
        </p:nvSpPr>
        <p:spPr>
          <a:xfrm>
            <a:off x="5998464" y="32095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over injection during an episode.</a:t>
            </a:r>
            <a:endParaRPr lang="en-US" sz="900" dirty="0"/>
          </a:p>
        </p:txBody>
      </p:sp>
      <p:sp>
        <p:nvSpPr>
          <p:cNvPr id="58" name="Shape 32"/>
          <p:cNvSpPr/>
          <p:nvPr/>
        </p:nvSpPr>
        <p:spPr>
          <a:xfrm>
            <a:off x="5705856" y="3867912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33"/>
          <p:cNvSpPr/>
          <p:nvPr/>
        </p:nvSpPr>
        <p:spPr>
          <a:xfrm>
            <a:off x="5705856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34"/>
          <p:cNvSpPr/>
          <p:nvPr/>
        </p:nvSpPr>
        <p:spPr>
          <a:xfrm>
            <a:off x="5998464" y="38679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Streamlit dashboard for live simulation &amp; policy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Action · Transition · Reward · Discount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MDP Formulation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17932" y="649224"/>
            <a:ext cx="5074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28600" y="658368"/>
            <a:ext cx="507492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768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= (S, A, T, R, γ)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11556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44752" y="1230476"/>
            <a:ext cx="3749040" cy="44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normalised vector per agent: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0-4: pos(x,y), battery, carrying, phase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5-7: target Δx, Δy, Manhattan dist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8-11: rack + goal coords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12-19: 4 pending order racks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20-31: 4 nearest agents (Δx,Δy,carrying)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32-56: local 5×5 grid view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65760" y="1875129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1961388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19613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44752" y="1760829"/>
            <a:ext cx="1831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5: N / S / E / W / WAIT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auto-triggers on rack arrival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auto-triggers on goal arrival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391156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65760" y="23591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 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44752" y="2368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given joint state + action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0.4/move, 0.1/idle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 (&lt;20%): DQN overridden → charger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inject every 120 steps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2980944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9809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44752" y="2990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Delivery+32, Pickup+8, Progress+0.6/unit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Move-away−1.2, Collision−1, Step−0.012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empty−6, Assist+2.5, Team+55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47472" y="3625596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360273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 γ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44752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 — values future deliveries strongly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still penalising battery waste soon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486400" y="658368"/>
            <a:ext cx="340156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86400" y="658368"/>
            <a:ext cx="3401568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14416" y="768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 Rationale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14416" y="1115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delivery_complete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6912864" y="1115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+32.0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0664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pickup — strong terminal signal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14416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pickup_item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912864" y="1444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0664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for reaching rack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14416" y="1773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912864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0664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guidance per unit closer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14416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move_away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912864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06640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progress — stops oscillation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14416" y="2432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912864" y="2432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06640" y="2432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wall/agent/rack penalty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614416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time_step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912864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06640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steps → −7.2 total pressure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14416" y="3090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battery_empty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912864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06640" y="3090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 deliveries lost — severe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614416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picker_assist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912864" y="3419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3419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proximity incentive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614416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team_bonus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912864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+55.0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0664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completion signal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Papers — Contributions &amp; Gaps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Literature Survey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632446"/>
              </p:ext>
            </p:extLst>
          </p:nvPr>
        </p:nvGraphicFramePr>
        <p:xfrm>
          <a:off x="182880" y="658368"/>
          <a:ext cx="8668512" cy="4224528"/>
        </p:xfrm>
        <a:graphic>
          <a:graphicData uri="http://schemas.openxmlformats.org/drawingml/2006/table">
            <a:tbl>
              <a:tblPr/>
              <a:tblGrid>
                <a:gridCol w="259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5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0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Authors/Year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Relevance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Mnih (2015)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Human-Level Control via DQN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518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end-to-end DRL with replay &amp; target net — foundational backbone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Single-agent; no logistics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(2016)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Dueling Network Architectures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 2016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V+A decomposition used directly in TA-RWARE backbone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Atari only; no MARL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Hasselt (2016)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Q-Learning (DDQN)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 2016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Decouples selection &amp; evaluation — used in target updates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MARL/logistics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Schaul (2016)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Experience Replay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2016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TD-error priority sampling — planned TA-RWARE upgrade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uniform replay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Christianos (2020)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SEAC + RWARE Benchmark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RWARE env — inspired TA-RWARE environment design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AC; DQN unexplored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Papoudakis (2021)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MARL Algos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D&amp;B 2021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 benchmark — informed our baseline evaluation protocol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battery/picker agents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Krnjaic (2022)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MARL Warehouse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2212.11498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MARL for AGV+picker — closest prior work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battery; no dashboard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Gankin (2022)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 DQN for AGV Routing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Front. Robotics AI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DQN+replay for grid AGV routing — validates DQN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type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 (2023)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Energy-Efficient AGV MARL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MDPI/PMC 2023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Energy-min MARL routing — motivates battery reward design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pickers; no shaping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Löffler (2022)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Picker Routing in AGV Systems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J.Comp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picker-AGV routing — motivates picker assist reward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approach; not RL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System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58368"/>
            <a:ext cx="15544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731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 grid · racks · goals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 · battery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956816" y="658368"/>
            <a:ext cx="155448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20824" y="731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20824" y="11612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per agent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view + orders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657600" y="658368"/>
            <a:ext cx="155448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21608" y="731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21608" y="11612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V+A → Q(s,a)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657600" y="1737360"/>
            <a:ext cx="1554480" cy="914400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21608" y="18105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21608" y="22402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transitions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sampling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956816" y="1737360"/>
            <a:ext cx="15544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020824" y="18105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20824" y="22402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actions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eval modes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56032" y="1737360"/>
            <a:ext cx="1554480" cy="91440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18105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22402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TensorBoard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artifacts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155448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3319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956816" y="2816352"/>
            <a:ext cx="1554480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020824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20824" y="3319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Manhattan-distance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657600" y="2816352"/>
            <a:ext cx="1554480" cy="914400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21608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21608" y="3319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vs Greedy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810512" y="1042416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511296" y="1042416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361688" y="1572768"/>
            <a:ext cx="146304" cy="164592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511296" y="2121408"/>
            <a:ext cx="274320" cy="146304"/>
          </a:xfrm>
          <a:prstGeom prst="lef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810512" y="2121408"/>
            <a:ext cx="274320" cy="146304"/>
          </a:xfrm>
          <a:prstGeom prst="lef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60120" y="2651760"/>
            <a:ext cx="146304" cy="164592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511296" y="3200400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233672" y="142646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486400" y="658368"/>
            <a:ext cx="340156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486400" y="658368"/>
            <a:ext cx="34015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614416" y="768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14416" y="1143000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705856" y="11795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Override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05856" y="14173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batt &lt; 20%, DQN overridden — agent routes to charger automatically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14416" y="1801368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05856" y="18379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Auto-Pickup/Drop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05856" y="207568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onto rack/goal triggers transition — no ACT action, removes bottleneck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14416" y="2459736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705856" y="249631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Learners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05856" y="27340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its own DQNAgent — no weight sharing between roles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614416" y="3118104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705856" y="31546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Injection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05856" y="339242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every 120 steps — non-stationary demand during episode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 rot="16200000">
            <a:off x="5198364" y="96286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Interact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 rot="16200000">
            <a:off x="5193792" y="20436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Learn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 rot="16200000">
            <a:off x="5145786" y="3115818"/>
            <a:ext cx="406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Evaluate</a:t>
            </a:r>
            <a:endParaRPr lang="en-US" sz="650" dirty="0"/>
          </a:p>
        </p:txBody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1B28A8E1-5183-09C8-57EC-DF04DF7D41E9}"/>
              </a:ext>
            </a:extLst>
          </p:cNvPr>
          <p:cNvSpPr/>
          <p:nvPr/>
        </p:nvSpPr>
        <p:spPr>
          <a:xfrm>
            <a:off x="1780794" y="3179825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 with Relationships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Component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66751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658368"/>
            <a:ext cx="2743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WarehouseEnv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042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envs/warehouse_env.py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124358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" y="1280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grid: ndarray(H×W)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38328" y="1481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agents: List[Agent]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38328" y="16824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orders: List[Order]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38328" y="179222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rack/goal/charge_cells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56616" y="1853489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" y="2017167"/>
            <a:ext cx="252374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reset(seed)→obs,info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38328" y="217627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step(actions)→obs,rews,term,trunc,info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38328" y="2322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_observe(idx)→float32[57]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38328" y="2498141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_assign_orders() nearest-first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18688" y="658368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18688" y="658368"/>
            <a:ext cx="274320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10128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DQNAgent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1042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agents/dqn_agent.py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10128" y="124358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28416" y="1280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policy: DuelingDQN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328416" y="1481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target: DuelingDQN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328416" y="16824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ReplayBuffer(30k)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328416" y="18836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ε→0.05 decay=0.9985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310128" y="188366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28416" y="204277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act(state,train)→int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3328416" y="218602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store(s,a,r,s2,done)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3328416" y="2322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learn()→{loss,q}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3337560" y="248716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save/load(path)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172200" y="658368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172200" y="658368"/>
            <a:ext cx="27432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63640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DuelingDQN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63640" y="1042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agents/network.py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263640" y="124358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81928" y="1280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shared: Linear(in,256→128)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281928" y="1481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value: Linear(128,64→1)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281928" y="16824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adv: Linear(128,64→5)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263640" y="188366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81928" y="19202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forward(x)→Q[batch,5]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281928" y="21214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act(x)→int argmax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28600" y="281635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28600" y="2816352"/>
            <a:ext cx="2743200" cy="347472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004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ReplayBuffer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0040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agents/replay_buffer.py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0040" y="340156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38328" y="34381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deque(maxlen=30k)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338328" y="36393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device: cpu/cuda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320040" y="404164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38328" y="40782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push(s,a,r,s2,done)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338328" y="4279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sample(64)→tensors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338328" y="4480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ready(bs)→bool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218688" y="281635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3218688" y="2816352"/>
            <a:ext cx="2743200" cy="347472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310128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310128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utils/logger.py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310128" y="340156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328416" y="34381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rewards, deliveries, losses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3328416" y="36393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agent_episode_metrics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310128" y="404164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328416" y="40782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log_ep(ep,m)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3328416" y="4279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log_train(step,loss,q)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3328416" y="4480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save()→metrics.json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172200" y="281635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6172200" y="2816352"/>
            <a:ext cx="2743200" cy="347472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26364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Tests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263640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agents/baseline_policies.py · tests/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63640" y="340156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281928" y="34381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greedy_actions(env)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6281928" y="36393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random_actions(env,rng)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6281928" y="384048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6 unit tests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263640" y="404164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281928" y="40782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Manhattan-distance dispatch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6281928" y="4279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test_state_dim, test_battery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6281928" y="4480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test_reset_seed, test_pickup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1527048" y="2688336"/>
            <a:ext cx="146304" cy="128016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4517136" y="2688336"/>
            <a:ext cx="146304" cy="128016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470648" y="2688336"/>
            <a:ext cx="146304" cy="128016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— V+A Decomposition, Design Rationale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DNN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749808"/>
            <a:ext cx="1143000" cy="1901952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5176" y="8412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335024"/>
            <a:ext cx="9601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5176" y="13716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∈ ℝ⁵⁷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5176" y="166420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state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per agent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44168" y="1554480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572768" y="749808"/>
            <a:ext cx="1143000" cy="1901952"/>
          </a:xfrm>
          <a:prstGeom prst="rect">
            <a:avLst/>
          </a:prstGeom>
          <a:solidFill>
            <a:srgbClr val="0F1F3D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36776" y="8412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64208" y="1335024"/>
            <a:ext cx="9601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36776" y="13716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36776" y="166420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neurons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15768" y="1554480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944368" y="749808"/>
            <a:ext cx="1143000" cy="1901952"/>
          </a:xfrm>
          <a:prstGeom prst="rect">
            <a:avLst/>
          </a:prstGeom>
          <a:solidFill>
            <a:srgbClr val="1A2E4A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008376" y="8412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35808" y="1335024"/>
            <a:ext cx="9601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008376" y="13716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08376" y="166420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87368" y="1700784"/>
            <a:ext cx="3840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71416" y="1188720"/>
            <a:ext cx="0" cy="1152144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471416" y="1188720"/>
            <a:ext cx="34747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471416" y="2340864"/>
            <a:ext cx="347472" cy="0"/>
          </a:xfrm>
          <a:prstGeom prst="line">
            <a:avLst/>
          </a:prstGeom>
          <a:noFill/>
          <a:ln w="254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749808"/>
            <a:ext cx="1389888" cy="7680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80467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10972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64+ReLU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V(s) ∈ ℝ¹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1883664"/>
            <a:ext cx="1389888" cy="76809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19385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STREAM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23113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64+ReLU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A(s,a) ∈ ℝ⁵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90488" y="1133856"/>
            <a:ext cx="0" cy="475488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90488" y="2267712"/>
            <a:ext cx="0" cy="0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190488" y="1627632"/>
            <a:ext cx="320040" cy="146304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510528" y="1060704"/>
            <a:ext cx="1508760" cy="1207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10528" y="11704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10528" y="15910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V(s)+A(s,a)−mean(A)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10528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argmax→action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2788920"/>
            <a:ext cx="8741664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4320" y="281635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= V(s) + ( A(s,a) − mean_{a'}[ A(s,a') ] 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01168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01168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83464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</a:t>
            </a:r>
            <a:r>
              <a:rPr lang="en-US" sz="900" dirty="0"/>
              <a:t> </a:t>
            </a: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3464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target nets synced every 300 steps. Prevents Q-value overestimation.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920240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920240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002536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02536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Linear layers init uniform Xavier, zero bias. Stable on sparse rewards.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3639312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639312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721608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(SmoothL1)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21608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large TD errors. Robust to early instability &amp; team-bonus spikes (+55).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358384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358384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440680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1.0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40680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Norm-clipped backprop prevents explosion on rare high-reward delivery events.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7077456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077456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159752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59752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a DQNAgent. Heterogeneous roles kept separate; no weight mix.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45099-4E51-201A-F770-94043069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1527CB-1E69-7FDE-2FFE-94D2C1A4322B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927784-CED4-77A2-0BC6-E265ABC982CC}"/>
              </a:ext>
            </a:extLst>
          </p:cNvPr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Architecture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6E825D-7588-2548-270D-66BBBB98BE1E}"/>
              </a:ext>
            </a:extLst>
          </p:cNvPr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— V+A Decomposition, Design Rationale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1F3F14-2808-A3A9-06FD-D92D7920788B}"/>
              </a:ext>
            </a:extLst>
          </p:cNvPr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EFAE034-369C-AABB-B58E-14C0BB011317}"/>
              </a:ext>
            </a:extLst>
          </p:cNvPr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DNN Architecture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0B3C3F-FDBB-7A4C-E7F8-36CFC6F73A45}"/>
              </a:ext>
            </a:extLst>
          </p:cNvPr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2DE9CF41-815F-F1A1-8190-9647F4FF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30" y="649224"/>
            <a:ext cx="7678670" cy="38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4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Environment, Enums &amp; Observation Vector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1/4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245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" y="658368"/>
            <a:ext cx="422452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768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WarehouseEnv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069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envs/warehouse_env.py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280160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55448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grid: ndarray(H×W)  — Cell enum values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82880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agents: List[Agent]  (AGVs + Pickers)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0312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orders: List[Order]  — dynamic injection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744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rack/goal/charge_cells: List[tuple]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batt_cap=280  batt_lo=0.20  bd_move=0.4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" y="29809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23697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reset(seed) → List[obs], info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1129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step(actions) → obs, rews, term, trunc, info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8561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_observe(idx) → np.float32[57]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993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_assign_orders()  nearest-first AGV↔order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33425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_build_grid()  walls + rack/goal/charge layout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08576" y="658368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08576" y="658368"/>
            <a:ext cx="4297680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36592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&amp; Dataclasses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069848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36592" y="11338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15584" y="1133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WALL  RACK  GOAL  CHARGE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36592" y="1389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AgentType: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15584" y="13898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AGV=0  PICKER=1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15584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 TO_PICKUP  TO_GOAL  CHARGING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36592" y="19019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15584" y="1901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rack_pos, goal_pos, agv_id, done, timestamps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36592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15584" y="21579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pos, phase, order, battery, metrics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08576" y="2706624"/>
            <a:ext cx="429768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08576" y="2706624"/>
            <a:ext cx="4297680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36592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Vector — 57 Dimensions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3118104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36592" y="318211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(5):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43600" y="31821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state: pos_x, pos_y, battery, carrying, phase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36592" y="3438144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(3):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43600" y="34381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δx, δy, Manhattan dist to target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36592" y="369417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 (4):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43600" y="36941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rack + goal coords (or picker target)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36592" y="395020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12–19 (8):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0" y="3950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pending order rack positions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36592" y="420624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20–31 (12):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0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nearest agents: δx, δy, carrying flag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36592" y="44622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32–56 (25):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43600" y="44622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5×5 grid perception (cell type / 5.0)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Agent, Dueling Network &amp; Replay Buffer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2/4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245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" y="658368"/>
            <a:ext cx="422452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768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069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agents/dqn_agent.py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280160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55448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policy: DuelingDQN  (action selection)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82880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target: DuelingDQN  (stable bootstrap targets)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0312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ReplayBuffer(capacity=30,000)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744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ε: 1.0→0.05  decay=0.9985  per episode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γ=0.97  lr=0.0005  batch=64  tgt_upd=300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" y="29809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23697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act(state, train) → int  (ε-greedy or greedy)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1129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store(s,a,r,s2,done) → push to ReplayBuffer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8561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learn() → {loss, q}  (DDQN update step)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993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decay_eps()  ε ← max(ε_end, ε × 0.9985)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33425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save/load(path)  policy, target, opt, eps dict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08576" y="658368"/>
            <a:ext cx="4297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08576" y="658368"/>
            <a:ext cx="429768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36592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DuelingDQN  (agents/network.py)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069848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36592" y="11338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shared: Sequential  Linear(in,256)→ReLU→Linear(256,128)→ReLU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36592" y="13898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value:  Sequential  Linear(128,64)→ReLU→Linear(64,1)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36592" y="16459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adv:    Sequential  Linear(128,64)→ReLU→Linear(64,5)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19019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forward(x) → V(s)+(A(s,a)−mean[A])  Q-values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2157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act(x) → argmax Q  (torch.no_grad, inference)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08576" y="3090672"/>
            <a:ext cx="429768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08576" y="3090672"/>
            <a:ext cx="4297680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36592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ReplayBuffer  (agents/replay_buffer.py)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36592" y="3502152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36592" y="35661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deque(maxlen=30,000)  — circular ring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38404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push(s,a,r,s2,done)  stores float32 arrays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36592" y="41148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sample(64) → (s,a,r,s2,d) as GPU/CPU tensors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36592" y="438912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ready(bs) → bool  blocks until buf ≥ bs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Loop, Reproducibility &amp; Logger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90795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3/4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700784" y="1426464"/>
            <a:ext cx="5120640" cy="221284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20240" y="1470878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train.py — training loop (key sections)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20240" y="1672046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Global seeding for reproducibility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920240" y="1806593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cfg['training']['seed']  # default 42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920240" y="1941141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random.seed(seed); np.random.seed(seed)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920240" y="2075688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torch.manual_seed(seed)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920240" y="2210236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920240" y="2344783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 in range(3000):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920240" y="2479331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obs, info = env.reset(seed=seed + ep)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920240" y="2613878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done: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920240" y="2748425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acts = [dqns[i].act(obs[i], train=True)]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920240" y="2882973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obs,rews,term,trunc,info = env.step(acts)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920240" y="3017520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dqns[i].store(obs,act,rew,next_obs,done)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920240" y="3152068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step%upd_frq==0: dqns[i].learn()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920240" y="3286615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dqns[i].decay_eps()   # multiplicative decay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920240" y="3421163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ep%eval_freq==0: eval_run() → save best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step(): Battery Logic &amp; Auto-Pickup/Drop  (warehouse_env.py)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Core Code  1/3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8741664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0896" y="731520"/>
            <a:ext cx="8522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envs/warehouse_env.py  —  step()  (key sections)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actions):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076283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self.steps += 1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21987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 = [cfg['rewards']['time_step']] * n_agents   # −0.012 per agent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363472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agent in enumerate(self.agents):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50706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Charging ──────────────────────────────────────────────────────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65066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agent.charging: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1794256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agent.battery = min(cap, battery + recharge_rate);  continue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193785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 empty → penalty + force to nearest charger ────────────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08144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agent.battery &lt;= 0: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225040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rewards[i] += cfg['rewards']['battery_empty']   # −6.0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36863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self._step_toward(agent, nearest_charger, occupied);  continue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2512229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 low (&lt;20%) → proactive charging override ───────────────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2655824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agent.battery / batt_cap &lt; batt_lo: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2799419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self._step_toward(agent, charger, occupied);  continue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10896" y="2943013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Normal navigation (DQN action applied) ─────────────────────────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10896" y="3086608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valid_move: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10896" y="3230203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agent.pos = dest;   agent.battery -= bd_move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10896" y="337379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agent.pos == order.rack_pos:              # ✅  AUTO PICKUP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10896" y="3517392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agent.phase = TO_GOAL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10896" y="366098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rewards[i] += cfg['rewards']['pickup_item']   # +8.0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10896" y="380458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agent.pos == order.goal_pos:            # ✅  AUTO DROP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310896" y="3948176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order.done = True;   total_delivered += 1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10896" y="409177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rewards[i] += cfg['rewards']['delivery_complete']   # +32.0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10896" y="423536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rewards[i] += progress_shaping(old_dist, new_dist)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310896" y="4378960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rewards[i] += cfg['rewards']['collision']   # −1.0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10896" y="452255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all(o.done for o in orders):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10896" y="4666149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range(n_agents): rewards[i] += team_bonus   # +55.0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learn() &amp; Progress-Shaping Reward  (dqn_agent.py)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Core Code  2/3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34256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0896" y="731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agents/dqn_agent.py  —  learn()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117310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self.buf.ready(self.bs): return {}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301931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self.buf.sample(self.bs)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486553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DDQN: decouple selection and evaluation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671175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855797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best_a = self.policy(s2).argmax(1, keepdim=True)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2040418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tgt_q  = r + (1-d) * γ * self.target(s2)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2225040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.gather(1, best_a).squeeze(1)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409662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cur_q = self.policy(s).gather(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594283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1, a.unsqueeze(1)).squeeze(1)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778905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Huber loss (SmoothL1) — clips large TD errors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2963527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nn.SmoothL1Loss()(cur_q, tgt_q)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3148149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self.opt.zero_grad()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3332770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10896" y="3517392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torch.nn.utils.clip_grad_norm_(params, 1.0)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10896" y="3702014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self.opt.step()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10896" y="3886635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Target network sync every 300 updates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10896" y="4071257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self.upd_ctr % self.tgt_upd == 0: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10896" y="4255879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self.target.load_state_dict(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10896" y="4440501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self.policy.state_dict())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10896" y="4625122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{'loss': loss.item(), 'q': cur_q.mean().item()}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645152" y="658368"/>
            <a:ext cx="429768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73152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Progress shaping  (inside step(), after valid move)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4880" y="932688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new_dist = self._dist_to_target(agent)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54880" y="1117310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Anchor resets when target changes (pickup done)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54880" y="1301931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new_progress_key != old_key: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754880" y="1486553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agent.best_dist = new_dist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754880" y="1671175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Reward when moving closer to target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754880" y="1855797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new_dist &lt; agent.best_dist: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54880" y="2040418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rewards[i] += progress*(best-new_dist)  # +0.6/unit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754880" y="2225040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agent.best_dist = new_dist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754880" y="2409662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Penalty when moving away from target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754880" y="2594283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new_dist &gt; old_dist: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754880" y="2778905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rewards[i] += move_away*(new_dist-old_dist)# −1.2/unit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754880" y="2963527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754880" y="3148149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_dist_to_target  (Manhattan distance)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54880" y="3332770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_dist_to_target(self, agent):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754880" y="3517392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agent.phase == TO_PICKUP: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4754880" y="3702014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agent.order.rack_pos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754880" y="3886635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agent.phase == TO_GOAL: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754880" y="4071257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agent.order.goal_pos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754880" y="4255879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agent.type == PICKER: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4754880" y="4440501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self._picker_target(agent)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4754880" y="4625122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|pos[0]-tgt[0]| + |pos[1]-tgt[1]|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Builder &amp; Greedy Baseline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Core Code  3/3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34256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0896" y="731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_observe(idx)  —  57-dim state builder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 = np.zeros(57, dtype=np.float32)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126541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Own state (dims 0–4)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320394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put(pos_x/W, pos_y/H, battery/cap, carrying, phase/3)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51424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Target direction (dims 5–7)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708099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tgt = goal_pos if carrying else rack_pos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901952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put(δx/W, δy/H, manhattan/(W+H))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2095805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Order coords (dims 8–11)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228965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put(rack_x/W, rack_y/H, goal_x/W, goal_y/H)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48351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Pending orders (dims 12–19, up to 4)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677363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 in unassigned_orders[:4]: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87121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put(o.rack_x/W, o.rack_y/H)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3065069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Nearest agents (dims 20–31, up to 4)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3258922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ag in sorted_by_distance[:4]: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3452774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put(δx/W, δy/H, ag.carrying_flag)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10896" y="3646627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Local 5×5 grid (dims 32–56)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10896" y="384048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dr in range(-2, 3):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10896" y="4034333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dc in range(-2, 3):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10896" y="422818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cell = grid[pos_y+dr, pos_x+dc]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10896" y="442203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put(cell/5.0)   # 5.0=other agent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10896" y="4615891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obs[:57]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645152" y="658368"/>
            <a:ext cx="429768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73152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baseline_policies.py  —  greedy_actions(env)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54880" y="932688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greedy_actions(env):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754880" y="1108918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occupied={tuple(a.pos) for a in env.agents}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54880" y="1285148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agent in env.agents: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54880" y="146137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Priority: 1.battery low→charger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754880" y="163760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2.AGV+order→rack or goal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754880" y="181383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3.Picker→nearest active goal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754880" y="199006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_agent_target(env, agent)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54880" y="216629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target is None: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754880" y="234252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actions.append(WAIT);  continue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754880" y="251875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WAIT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754880" y="269498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best_score = manhattan(agent.pos, target)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754880" y="287121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act, (dc, dr) in MOVES.items():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754880" y="304744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 = (pos[0]+dc, pos[1]+dr)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754880" y="322367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_valid_move(env,agent,dest): continue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54880" y="339990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manhattan(dest, target)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754880" y="357613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score &lt; best_score: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4754880" y="375236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best_score = score; best = act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754880" y="392859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actions.append(best)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754880" y="410482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actions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754880" y="428105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4754880" y="4457284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random_actions(env, rng=None):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4754880" y="4633514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[int(rng.integers(env.action_dim))...]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Policy Comparison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3-Seed Evaluation  (seeds: 1234, 1235, 1236)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" y="658368"/>
            <a:ext cx="192024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1168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+154.6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(DDQN)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65960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65960" y="658368"/>
            <a:ext cx="1920240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65960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/ 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65960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Deliveries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(DDQN)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730752" y="658368"/>
            <a:ext cx="1920240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30752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0752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(DDQN)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95544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95544" y="658368"/>
            <a:ext cx="1920240" cy="43891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95544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95544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(Greedy)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60336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60336" y="658368"/>
            <a:ext cx="1920240" cy="43891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60336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−1654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0336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(Random)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9704"/>
              </p:ext>
            </p:extLst>
          </p:nvPr>
        </p:nvGraphicFramePr>
        <p:xfrm>
          <a:off x="201168" y="1737360"/>
          <a:ext cx="8741664" cy="31272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DDQN (Rank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(Rank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(Rank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Reward ± Std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+154.6 ± 715.2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−5.5 ± 35.2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−1654 ± 45.2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Deliveries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/ 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 / 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/ 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Completion 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Steps to Done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/ 100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Collisions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Charge Visits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Cycle Time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(none)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A49A1-768D-9E42-4A80-09AF04CC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C22832-38E0-12A7-41EB-335C5F49EA56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4A4563-E61C-AFE8-2707-BD3C6FB3366D}"/>
              </a:ext>
            </a:extLst>
          </p:cNvPr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Curves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E54E97-9217-579D-C66F-81E035933559}"/>
              </a:ext>
            </a:extLst>
          </p:cNvPr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from plot_results.py  ·  logs/runs/&lt;run&gt;/plots/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3E0D15-4728-63B3-E3B1-027C49F87BAA}"/>
              </a:ext>
            </a:extLst>
          </p:cNvPr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C7DAC1-BA84-111A-157C-EC575AEED5F6}"/>
              </a:ext>
            </a:extLst>
          </p:cNvPr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2/4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D867D1-E3E5-1C59-8589-1C5731983DC5}"/>
              </a:ext>
            </a:extLst>
          </p:cNvPr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209282E-ED40-179E-2FD4-7FB61D7C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60654"/>
            <a:ext cx="8465820" cy="257324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65865CE-314F-4FD0-CB74-C77D563A2774}"/>
              </a:ext>
            </a:extLst>
          </p:cNvPr>
          <p:cNvSpPr txBox="1"/>
          <p:nvPr/>
        </p:nvSpPr>
        <p:spPr>
          <a:xfrm>
            <a:off x="419862" y="3311003"/>
            <a:ext cx="7703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panels: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Episode Reward (raw + smoothed)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Deliveries/Episode,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Completion Rate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Shows convergence from ~−155 baseline to improved reward over training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54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3ACF7-1A93-04F2-C63B-CE25218A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DB6280-602B-27C0-53FE-AA0C55EAA497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52E54A-4FBE-00E6-B5D6-DF2374E71E93}"/>
              </a:ext>
            </a:extLst>
          </p:cNvPr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Curves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E43664-1977-3652-2BC1-C38D9C10E730}"/>
              </a:ext>
            </a:extLst>
          </p:cNvPr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from plot_results.py  ·  logs/runs/&lt;run&gt;/plots/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74195F-FE71-D803-C0D0-FE9D73F413AC}"/>
              </a:ext>
            </a:extLst>
          </p:cNvPr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2742D5-F5E2-DD8D-AEC9-03E98AAB2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649224"/>
            <a:ext cx="8796528" cy="3480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50FC15-BE2B-FC7E-59AC-CDC724A89654}"/>
              </a:ext>
            </a:extLst>
          </p:cNvPr>
          <p:cNvSpPr txBox="1"/>
          <p:nvPr/>
        </p:nvSpPr>
        <p:spPr>
          <a:xfrm>
            <a:off x="464820" y="4228870"/>
            <a:ext cx="8054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Histogram of episode rewards (30 bins) + rolling mean ± 1 std band.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734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B16BC-3CF3-E3C1-5657-0A8BD4C9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964C57-68D0-7A63-03B8-037B43E34E99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FC8409-5F2F-BC10-877B-434598C6DAAD}"/>
              </a:ext>
            </a:extLst>
          </p:cNvPr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Curves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D462ED-D1EA-6927-902D-ACB7E689B3E6}"/>
              </a:ext>
            </a:extLst>
          </p:cNvPr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from plot_results.py  ·  logs/runs/&lt;run&gt;/plots/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B22ECD-E789-EC5E-AF84-8E470C200D32}"/>
              </a:ext>
            </a:extLst>
          </p:cNvPr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AEA3D-1496-1F20-7FB6-9FF61E5D6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927"/>
            <a:ext cx="9144000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10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3D4B6-F8B7-9616-70CF-44A194C4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28CDB5-7D84-3623-C4E5-C0864E3CCCB3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348280-E6C2-4BED-E9A8-3654F3AA8777}"/>
              </a:ext>
            </a:extLst>
          </p:cNvPr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Curves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2B30DD-8FB3-77C3-03BC-D6E4F5C32568}"/>
              </a:ext>
            </a:extLst>
          </p:cNvPr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from plot_results.py  ·  logs/runs/&lt;run&gt;/plots/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1018E7-EBC4-15B8-C65B-A6C3AB8CCB26}"/>
              </a:ext>
            </a:extLst>
          </p:cNvPr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10048E5-2E81-1243-8891-14D80A7F0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927"/>
            <a:ext cx="9144000" cy="451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81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Policy Behavior Analysis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Policy Learned (from Evaluation Data)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3/4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85660" y="38026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8741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" y="658368"/>
            <a:ext cx="874166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9184" y="749808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Policy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" y="1042416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Completes 5/5 orders in 2 out of 3 seeds (seeds 1234, 1235), finishing in 69 and 48 steps respectively — far faster than max_steps=600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29184" y="1289304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Seed 1236 hit a harder 10-order scenario at max_steps, yielding negative reward (−670) — shows DQN still struggles with long-horizon multi-order completions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29184" y="1536192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Avg 100 collisions per episode: agents pursue deliveries aggressively without coordinating dock access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29184" y="1783080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0.67 charge visits avg: DQN learned basic battery management — avoids empty events in most seeds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29184" y="2029968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 cycle time 64 steps: DQN completes deliveries ~4× faster than the episode length suggests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1168" y="2444497"/>
            <a:ext cx="4821936" cy="239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01168" y="2442669"/>
            <a:ext cx="4821936" cy="45719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9184" y="251460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Policy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" y="2828545"/>
            <a:ext cx="4593336" cy="26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Completes only 0.33 avg deliveries: heuristic lacks look-ahead and cannot handle order queue growth from task injection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29184" y="3075432"/>
            <a:ext cx="4663440" cy="298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0.33 collisions avg: very safe routing but at the cost of throughput — greedy defers to WAIT when blocked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29184" y="3340608"/>
            <a:ext cx="482193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Never reaches a charger (0 charge visits): battery drain not a concern at 600 steps with 280 capacity for 3 agents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29184" y="3569209"/>
            <a:ext cx="4943856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Stuck at max_steps on all 3 seeds: never completes all orders — greedy order assignment is suboptimal for dynamic queues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036820" y="2431084"/>
            <a:ext cx="404164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023104" y="2442669"/>
            <a:ext cx="4041648" cy="45719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83124" y="2469489"/>
            <a:ext cx="1080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Policy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2883255"/>
            <a:ext cx="3663696" cy="403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 deliveries across all 3 seeds: confirms that the warehouse task is non-trivial — random actions cannot navigate to rack AND goal</a:t>
            </a:r>
          </a:p>
          <a:p>
            <a:pPr marL="0" indent="0">
              <a:buNone/>
            </a:pP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093970" y="3229508"/>
            <a:ext cx="3777996" cy="30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623 avg collisions: random policy hits walls and other agents constantly — environment is dense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5093208" y="3681831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Consistent negative reward (−1654 ± 45): low variance shows environment is deterministic given seed — reproducibility confirmed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093208" y="4049573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Confirms that DQN's 83% completion rate is genuinely learned </a:t>
            </a:r>
            <a:r>
              <a:rPr lang="en-US" sz="82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Smoke Training Metrics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12-Episode Smoke Run  (seed=42, config.smoke.yaml)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4/4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556025"/>
              </p:ext>
            </p:extLst>
          </p:nvPr>
        </p:nvGraphicFramePr>
        <p:xfrm>
          <a:off x="1511808" y="722071"/>
          <a:ext cx="5852160" cy="24323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Epsilon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-153.3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exploration — ε=1.0, all random actions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-145.5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improvement — replay buffer filling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-168.0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decreasing (0.085) — network beginning to learn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-164.2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Collisions persist — agent not yet learning navigation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-127.6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episode — progress shaping starts to guide movement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-166.8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in rewards — exploration still dominant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511808" y="3397301"/>
            <a:ext cx="585216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511808" y="3394253"/>
            <a:ext cx="585216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658112" y="3503981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Run Interpretation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58112" y="377830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 deliveries in 12 episodes is EXPECTED — smoke config has max_steps=120 and a smaller grid. DQN needs 100s of episodes to fill replay and learn navigation.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58112" y="403433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Loss drops from ~0.28 (ep1) to ~0.059 (ep12): network IS learning; Q-values updating.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658112" y="429036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Epsilon decays from 1.0 to 0.976: 2.4% exploration covered — correct decay rate for smoke config.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58112" y="45463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Episode 11 best (−127.6): progress shaping reward starting to accumulate — agent moving toward targets.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Decisions — Rationale &amp; Evidence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Hyperparameter Tuning  1/2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58368"/>
          <a:ext cx="8741664" cy="4206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Tried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Rationale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decay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– 0.9995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→ premature exploitation by ep 300. 0.9995 → no convergence by ep 3000. 0.9985 gives ~1400 exploration episodes on 5×7.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reward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 / 32 / 50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 makes delivery too weak vs step penalty total (−7.2). &gt;40 destabilises Q-values via large TD error spikes.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update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steps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300 / 1000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→ unstable targets. 1000 → stale bootstrap. 300 balances both for this env size.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[256,128,64]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[128,64] / [256,128,64] / [512,256,128]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[128,64] underfit 57-dim obs. [512,256,128] slows CPU convergence significantly. [256,128,64] balanced.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64 / 128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too noisy with sparse delivery rewards. 128 diminishing returns. 64 optimal.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(discount)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/ 0.97 / 0.99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overvalues distant deliveries causing policy to wait. 0.95 too myopic for cross-grid navigation.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weight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 / +0.6 / +1.0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&lt;0.4 insufficient to guide navigation. &gt;0.8 causes oscillation at target boundary.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Move-away penalty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/ −1.2 / −2.0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insufficient to stop backtracking. −2.0 penalises early exploration too harshly.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bonus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55 / 80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too weak vs individual delivery rewards. 80 causes Q instability on convergence.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 &amp; Architecture Justification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Hyperparameter Tuning  2/2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765233"/>
              </p:ext>
            </p:extLst>
          </p:nvPr>
        </p:nvGraphicFramePr>
        <p:xfrm>
          <a:off x="201168" y="658368"/>
          <a:ext cx="7827264" cy="24688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 for TA-RWARE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DQN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discrete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Conflates V(s) and A(s,a) — poor in states with equal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on-policy optimisation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Sample-hungry for CPU; needs many parallel envs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CTDE MARL — explicit 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mixer; joint value fn machinery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IQL (Independent Q-learning)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multi-agent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expressive; no V/A decomposition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Dueling DQN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V+A separation; reduces overestimation; off-policy efficient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learners — no explicit 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01168" y="3090672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Dueling DQN for Warehouse Routing?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3419856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1168" y="3419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29184" y="35112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 captures state quality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" y="37490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warehouse states have similar action values — blocked corridor, charging cell, congested dock. V(s) correctly says 'this state is bad' without conflating it with which specific move is best.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681728" y="3419856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81728" y="3419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809744" y="35112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A(s,a) ranks actions given state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9744" y="37490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IS near its target, A(s,a) learns which direction reduces distance most — clean separation from whether the state is good.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201168" y="4133088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01168" y="413308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29184" y="4224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cuts overestimation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" y="44622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decoupled selection/evaluation, Q-values inflate for delivery states, leading the agent to circle near docks. DDQN targets stabilise this.</a:t>
            </a:r>
            <a:endParaRPr lang="en-US" sz="820" dirty="0"/>
          </a:p>
        </p:txBody>
      </p:sp>
      <p:sp>
        <p:nvSpPr>
          <p:cNvPr id="8" name="Shape 19"/>
          <p:cNvSpPr/>
          <p:nvPr/>
        </p:nvSpPr>
        <p:spPr>
          <a:xfrm>
            <a:off x="4681728" y="4133088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681728" y="413308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09744" y="4224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= sample efficiency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9744" y="44622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reuses past transitions. With 600-step episodes and a 30k buffer, DQN sees each transition ~5× — critical for CPU training.</a:t>
            </a:r>
            <a:endParaRPr lang="en-US" sz="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What Worked Well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That Paid Off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Reflection  1/2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" y="658368"/>
            <a:ext cx="4315968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0896" y="749808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0896" y="749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74980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 / Auto-Drop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1097280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impactful single decision. Removing ACT action reduced the credit assignment horizon from O(episode²) to O(episode). Without it, DQN failed to deliver a single item even after 3000 episodes in prior experiments. The smoke run confirms agents begin learning within 12 eps with auto-transitions.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681728" y="658368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81728" y="65836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91456" y="749808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91456" y="749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74980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Shaping (+0.6/unit)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1097280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reward guidance enabled agents to learn navigation even when delivery reward is rare. The asymmetric ratio (progress:penalty = 1:2) prevents agents from profiting from oscillation near the target boundary. The best_dist anchor ensures reward only fires on genuine progress, not repeated visits.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01168" y="2048256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01168" y="2048256"/>
            <a:ext cx="431596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10896" y="2139696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10896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1396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Emergency Override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" y="2487168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DQN actions below 20% battery means agents never need to learn charging as a separate skill. This reduces the state-action space the DQN must cover. The charger-claim priority prevents fleet pile-up at a single charger — an engineering detail that stabilises the multi-agent dynamics.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681728" y="2048256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81728" y="2048256"/>
            <a:ext cx="4315968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91456" y="2139696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91456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21396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Seeding + Config Snapshot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9744" y="2487168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applies random.seed(42), np.random.seed(42), torch.manual_seed(42) and seeds each episode reset with seed+ep. Combined with config_snapshot.yaml, any run can be exactly reproduced. This is verified: two consecutive smoke runs produce byte-identical metrics.json.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01168" y="3438144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01168" y="3438144"/>
            <a:ext cx="4315968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10896" y="3529584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1089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35295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Policy Comparison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" y="3877056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three-policy comparison (run_analysis.bat) over deterministic seeds provides objective evidence that DQN learned useful behaviour. The dashboard makes this accessible: a grader can run the comparison themselves in &lt;30 seconds without modifying any code.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681728" y="3438144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81728" y="3438144"/>
            <a:ext cx="4315968" cy="43891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91456" y="3529584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9145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35295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Suite (6 tests)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9744" y="3877056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tests/test_environment.py catches regressions in observation bounds, battery drain, reset reproducibility, and auto-pickup logic. All 6 tests pass (verified via run_tests.bat). This is especially important given the complex multi-agent step() logic.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Limitations &amp; Future Scope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Self-Evaluation + Concrete Roadmap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Reflection  2/2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01168" y="6583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65275"/>
              </p:ext>
            </p:extLst>
          </p:nvPr>
        </p:nvGraphicFramePr>
        <p:xfrm>
          <a:off x="201168" y="969264"/>
          <a:ext cx="5074920" cy="20848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learners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avg collisions/ep — agents compete for dock access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QMIX / MAPPO centralised training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5×5 observation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 orders or chargers &gt; 2 cells away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over full warehouse graph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grid layout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does not generalise to different warehouse sizes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randomisation during training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collision curriculum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learned reactively, not proactively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Safety-constrained RL or collision curriculum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run = 0 deliveries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12 episodes — not enough to learn; expected result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3000-ep run needed for convergence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0" y="6583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987552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486400" y="987552"/>
            <a:ext cx="34015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14416" y="10789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QMIX / MAPPO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14416" y="135331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joint Q-value decomposition for explicit team credit assignment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0" y="1773936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486400" y="1773936"/>
            <a:ext cx="340156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614416" y="18653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Nets</a:t>
            </a:r>
            <a:endParaRPr lang="en-US" sz="1000" dirty="0"/>
          </a:p>
        </p:txBody>
      </p:sp>
      <p:sp>
        <p:nvSpPr>
          <p:cNvPr id="9" name="Text 21"/>
          <p:cNvSpPr/>
          <p:nvPr/>
        </p:nvSpPr>
        <p:spPr>
          <a:xfrm>
            <a:off x="5614416" y="21396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over full warehouse topology for global state encoding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0" y="2560320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486400" y="2560320"/>
            <a:ext cx="3401568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614416" y="265176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Replay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14416" y="29260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for rare delivery/battery-empty event oversampling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6400" y="3299155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486400" y="3299155"/>
            <a:ext cx="3401568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614416" y="3390595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RL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14416" y="3664915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Pareto-optimise throughput, energy, and hardware wear simultaneously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References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0994"/>
              </p:ext>
            </p:extLst>
          </p:nvPr>
        </p:nvGraphicFramePr>
        <p:xfrm>
          <a:off x="201168" y="658368"/>
          <a:ext cx="8302753" cy="4224528"/>
        </p:xfrm>
        <a:graphic>
          <a:graphicData uri="http://schemas.openxmlformats.org/drawingml/2006/table">
            <a:tbl>
              <a:tblPr/>
              <a:tblGrid>
                <a:gridCol w="29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Mnih et al. "Human-Level Control through Deep Reinforcement Learning."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518, 529–533, 2015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Z. Wang et al. "Dueling Network Architectures for Deep Reinforcement Learning."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van Hasselt et al. "Deep Reinforcement Learning with Double Q-Learning."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Schaul et al. "Prioritized Experience Replay."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Christianos et al. "Shared Experience Actor-Critic for Multi-Agent RL."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Papoudakis et al. "Benchmarking MARL Algorithms in Cooperative Tasks."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D&amp;B 2021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Krnjaic et al. "Scalable MARL for Warehouse Logistics with Robotic &amp; Human Co-Workers."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Gankin et al. "Multi-Agent DQN for AGV Routing in Modular Manufacturing."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Front. Robotics AI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Hu et al. "Toward Energy-Efficient Routing of Multiple AGVs with MARL."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MDPI/PMC 2023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Löffler et al. "Picker Routing in AGV-Assisted Order Picking Systems."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J. Comp.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5969</Words>
  <Application>Microsoft Office PowerPoint</Application>
  <PresentationFormat>On-screen Show (16:9)</PresentationFormat>
  <Paragraphs>895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TALASU SAI SWAROOP-[BL.EN.U4AID23051]</cp:lastModifiedBy>
  <cp:revision>9</cp:revision>
  <dcterms:created xsi:type="dcterms:W3CDTF">2026-05-13T04:13:57Z</dcterms:created>
  <dcterms:modified xsi:type="dcterms:W3CDTF">2026-05-13T13:51:35Z</dcterms:modified>
</cp:coreProperties>
</file>