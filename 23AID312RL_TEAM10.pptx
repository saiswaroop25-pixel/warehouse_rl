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1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82" r:id="rId18"/>
    <p:sldId id="283" r:id="rId19"/>
    <p:sldId id="284" r:id="rId20"/>
    <p:sldId id="285" r:id="rId21"/>
    <p:sldId id="273" r:id="rId22"/>
    <p:sldId id="274" r:id="rId23"/>
    <p:sldId id="275" r:id="rId24"/>
    <p:sldId id="276" r:id="rId25"/>
    <p:sldId id="277" r:id="rId26"/>
    <p:sldId id="278" r:id="rId27"/>
    <p:sldId id="280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43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0832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038FB-C9DD-2BEF-4931-BC905F0F9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2DE68A-D021-4C0E-E14B-777B22263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9C509-0368-55D8-52C1-1C5D3D056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14D6E-E280-6DD6-4738-FBE76F18B7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49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E268-F8AF-EF38-F5E1-CD99716D2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75F54-BC06-62C8-B4C6-AC966EDD6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055DF3-62A9-61DE-F58D-0AF41EF816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63433-39DA-C935-2432-C780DD7926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0853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EFD7E-7CCE-FCAF-9963-F02B3E529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FFA7C-6C26-A5CE-F0F5-562158F7A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4F9D9D-8EA7-E183-5B99-6981DCCD5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A2EED-50EF-68A7-09B3-772E33C954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004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DDBA6-2C00-711D-CF7F-AD98026AC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27D2DF-7807-2629-7A1F-F3FF5F02D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C88698-85A6-C05F-8C82-2E550BA9A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A6181-6345-F22F-2957-82745E438C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062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CDCAF-83F0-10BD-1EF5-CC957DE20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A7A80-F628-0D73-A1DF-79F48FF00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2DC2B-0EAC-DFBA-164F-9AE30EA22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BA20D-A6DB-D49F-2E7C-049695F572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399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18288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3448" y="276910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203448" y="27691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23AID312  ·  Reinforcement Learning  ·  Team 10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75488" y="1283208"/>
            <a:ext cx="853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Robot Task Allocation 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86028" y="203530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Task-Allocation Reinforcement Learning for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Autonomous Routing &amp; Execution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5488" y="482803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Project Evaluation  |  May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Overview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Contents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56032" y="685800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56032" y="685800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9184" y="795528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9184" y="795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58952" y="7772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1033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formulation, novelty, real-world motivation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547872" y="1033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3–4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36592" y="685800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736592" y="685800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809744" y="795528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809744" y="795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39512" y="7772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9512" y="1033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key papers, contributions, gaps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028432" y="1033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56032" y="1481328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56032" y="1481328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9184" y="1591056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29184" y="1591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8952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pipeline, component diagram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547872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6–7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36592" y="1481328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736592" y="1481328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809744" y="1591056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809744" y="1591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39512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Design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39512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Dueling DQN architecture, design rationale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28432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56032" y="2276856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256032" y="2276856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329184" y="2386584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9184" y="2386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58952" y="2368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58952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 agents, training loop, dashboard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547872" y="2624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9–12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736592" y="2276856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4736592" y="2276856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809744" y="2386584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809744" y="2386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39512" y="2368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Code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39512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step(), learn(), shaping, observation builder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028432" y="2624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13–15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56032" y="3072384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56032" y="3072384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329184" y="3182112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329184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8952" y="31638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58952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curves, policy comparison, agent metrics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547872" y="3419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16–19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36592" y="3072384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4736592" y="3072384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809744" y="3182112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09744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239512" y="31638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239512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choices, ablation evidence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8028432" y="3419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20–21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56032" y="3867912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256032" y="3867912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329184" y="3977640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9184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58952" y="39593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Limitations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758952" y="42153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gaps, future scope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3547872" y="4215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22–23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028432" y="4215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24</a:t>
            </a:r>
            <a:endParaRPr lang="en-US" sz="800" dirty="0"/>
          </a:p>
        </p:txBody>
      </p:sp>
      <p:sp>
        <p:nvSpPr>
          <p:cNvPr id="85" name="Shape 76"/>
          <p:cNvSpPr/>
          <p:nvPr/>
        </p:nvSpPr>
        <p:spPr>
          <a:xfrm>
            <a:off x="4736592" y="3878885"/>
            <a:ext cx="43159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6" name="Shape 77"/>
          <p:cNvSpPr/>
          <p:nvPr/>
        </p:nvSpPr>
        <p:spPr>
          <a:xfrm>
            <a:off x="4736592" y="3878885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Shape 78"/>
          <p:cNvSpPr/>
          <p:nvPr/>
        </p:nvSpPr>
        <p:spPr>
          <a:xfrm>
            <a:off x="4809744" y="3988613"/>
            <a:ext cx="347472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79"/>
          <p:cNvSpPr/>
          <p:nvPr/>
        </p:nvSpPr>
        <p:spPr>
          <a:xfrm>
            <a:off x="4809744" y="398861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9" name="Text 80"/>
          <p:cNvSpPr/>
          <p:nvPr/>
        </p:nvSpPr>
        <p:spPr>
          <a:xfrm>
            <a:off x="5239512" y="3970325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90" name="Text 81"/>
          <p:cNvSpPr/>
          <p:nvPr/>
        </p:nvSpPr>
        <p:spPr>
          <a:xfrm>
            <a:off x="5239512" y="422635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papers with links</a:t>
            </a:r>
            <a:endParaRPr lang="en-US" sz="850" dirty="0"/>
          </a:p>
        </p:txBody>
      </p:sp>
      <p:sp>
        <p:nvSpPr>
          <p:cNvPr id="91" name="Text 82"/>
          <p:cNvSpPr/>
          <p:nvPr/>
        </p:nvSpPr>
        <p:spPr>
          <a:xfrm>
            <a:off x="8028432" y="422635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Novelty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Problem Statement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56032" y="694944"/>
            <a:ext cx="50292" cy="658368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02336" y="74066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Suboptimal Manual Dispatch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02336" y="10149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operators fail to adapt allocation to changing battery levels, order queues, and congestion — leading to idle AGVs and late deliveries.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1581912"/>
            <a:ext cx="50292" cy="658368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02336" y="16276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&amp; Charging Conflicts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2336" y="19019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approaches route AGVs to the nearest order ignoring battery state. Fleet-wide depletion creates deadlock.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" y="2468880"/>
            <a:ext cx="50292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25146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Agent Roles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" y="27889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AGVs execute deliveries; pickers assist at docks. No prior RWARE benchmark includes asymmetric role-based reward.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3355848"/>
            <a:ext cx="50292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02336" y="3401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Reward / Credit Assignment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2336" y="367588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separate ACT action the agent must learn a 4-step sequence. Credit for early actions is only realised steps later.</a:t>
            </a:r>
            <a:endParaRPr lang="en-US" sz="900" dirty="0"/>
          </a:p>
        </p:txBody>
      </p:sp>
      <p:sp>
        <p:nvSpPr>
          <p:cNvPr id="43" name="Shape 17"/>
          <p:cNvSpPr/>
          <p:nvPr/>
        </p:nvSpPr>
        <p:spPr>
          <a:xfrm>
            <a:off x="5577840" y="713232"/>
            <a:ext cx="3246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18"/>
          <p:cNvSpPr/>
          <p:nvPr/>
        </p:nvSpPr>
        <p:spPr>
          <a:xfrm>
            <a:off x="5577840" y="713232"/>
            <a:ext cx="324612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19"/>
          <p:cNvSpPr/>
          <p:nvPr/>
        </p:nvSpPr>
        <p:spPr>
          <a:xfrm>
            <a:off x="5705856" y="850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200" dirty="0"/>
          </a:p>
        </p:txBody>
      </p:sp>
      <p:sp>
        <p:nvSpPr>
          <p:cNvPr id="46" name="Shape 20"/>
          <p:cNvSpPr/>
          <p:nvPr/>
        </p:nvSpPr>
        <p:spPr>
          <a:xfrm>
            <a:off x="5705856" y="1234440"/>
            <a:ext cx="237744" cy="237744"/>
          </a:xfrm>
          <a:prstGeom prst="roundRect">
            <a:avLst>
              <a:gd name="adj" fmla="val 192308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21"/>
          <p:cNvSpPr/>
          <p:nvPr/>
        </p:nvSpPr>
        <p:spPr>
          <a:xfrm>
            <a:off x="5705856" y="1234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22"/>
          <p:cNvSpPr/>
          <p:nvPr/>
        </p:nvSpPr>
        <p:spPr>
          <a:xfrm>
            <a:off x="5998464" y="12344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configurable grid-world warehouse env with battery dynamics &amp; order queues</a:t>
            </a:r>
            <a:endParaRPr lang="en-US" sz="900" dirty="0"/>
          </a:p>
        </p:txBody>
      </p:sp>
      <p:sp>
        <p:nvSpPr>
          <p:cNvPr id="49" name="Shape 23"/>
          <p:cNvSpPr/>
          <p:nvPr/>
        </p:nvSpPr>
        <p:spPr>
          <a:xfrm>
            <a:off x="5705856" y="1892808"/>
            <a:ext cx="237744" cy="237744"/>
          </a:xfrm>
          <a:prstGeom prst="roundRect">
            <a:avLst>
              <a:gd name="adj" fmla="val 192308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24"/>
          <p:cNvSpPr/>
          <p:nvPr/>
        </p:nvSpPr>
        <p:spPr>
          <a:xfrm>
            <a:off x="5705856" y="1892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1" name="Text 25"/>
          <p:cNvSpPr/>
          <p:nvPr/>
        </p:nvSpPr>
        <p:spPr>
          <a:xfrm>
            <a:off x="5998464" y="1892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Dueling DQN for heterogeneous AGV + picker coordination</a:t>
            </a:r>
            <a:endParaRPr lang="en-US" sz="900" dirty="0"/>
          </a:p>
        </p:txBody>
      </p:sp>
      <p:sp>
        <p:nvSpPr>
          <p:cNvPr id="52" name="Shape 26"/>
          <p:cNvSpPr/>
          <p:nvPr/>
        </p:nvSpPr>
        <p:spPr>
          <a:xfrm>
            <a:off x="5705856" y="2551176"/>
            <a:ext cx="237744" cy="237744"/>
          </a:xfrm>
          <a:prstGeom prst="roundRect">
            <a:avLst>
              <a:gd name="adj" fmla="val 192308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27"/>
          <p:cNvSpPr/>
          <p:nvPr/>
        </p:nvSpPr>
        <p:spPr>
          <a:xfrm>
            <a:off x="5705856" y="2551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Text 28"/>
          <p:cNvSpPr/>
          <p:nvPr/>
        </p:nvSpPr>
        <p:spPr>
          <a:xfrm>
            <a:off x="5998464" y="25511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auto-pickup/drop to remove the ACT-action bottleneck</a:t>
            </a:r>
            <a:endParaRPr lang="en-US" sz="900" dirty="0"/>
          </a:p>
        </p:txBody>
      </p:sp>
      <p:sp>
        <p:nvSpPr>
          <p:cNvPr id="55" name="Shape 29"/>
          <p:cNvSpPr/>
          <p:nvPr/>
        </p:nvSpPr>
        <p:spPr>
          <a:xfrm>
            <a:off x="5705856" y="3209544"/>
            <a:ext cx="237744" cy="237744"/>
          </a:xfrm>
          <a:prstGeom prst="roundRect">
            <a:avLst>
              <a:gd name="adj" fmla="val 192308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30"/>
          <p:cNvSpPr/>
          <p:nvPr/>
        </p:nvSpPr>
        <p:spPr>
          <a:xfrm>
            <a:off x="5705856" y="3209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7" name="Text 31"/>
          <p:cNvSpPr/>
          <p:nvPr/>
        </p:nvSpPr>
        <p:spPr>
          <a:xfrm>
            <a:off x="5998464" y="32095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over injection during an episode.</a:t>
            </a:r>
            <a:endParaRPr lang="en-US" sz="900" dirty="0"/>
          </a:p>
        </p:txBody>
      </p:sp>
      <p:sp>
        <p:nvSpPr>
          <p:cNvPr id="58" name="Shape 32"/>
          <p:cNvSpPr/>
          <p:nvPr/>
        </p:nvSpPr>
        <p:spPr>
          <a:xfrm>
            <a:off x="5705856" y="3867912"/>
            <a:ext cx="237744" cy="237744"/>
          </a:xfrm>
          <a:prstGeom prst="roundRect">
            <a:avLst>
              <a:gd name="adj" fmla="val 192308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33"/>
          <p:cNvSpPr/>
          <p:nvPr/>
        </p:nvSpPr>
        <p:spPr>
          <a:xfrm>
            <a:off x="5705856" y="3867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0" name="Text 34"/>
          <p:cNvSpPr/>
          <p:nvPr/>
        </p:nvSpPr>
        <p:spPr>
          <a:xfrm>
            <a:off x="5998464" y="38679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Streamlit dashboard for live simulation &amp; policy comparison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Formulation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· Action · Transition · Reward · Discount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MDP Formulation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17932" y="649224"/>
            <a:ext cx="50749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Shape 7"/>
          <p:cNvSpPr/>
          <p:nvPr/>
        </p:nvSpPr>
        <p:spPr>
          <a:xfrm>
            <a:off x="228600" y="658368"/>
            <a:ext cx="5074920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65760" y="7680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= (S, A, T, R, γ)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1024128" cy="23774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65760" y="111556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44752" y="1230476"/>
            <a:ext cx="3749040" cy="44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57-dim normalised vector per agent: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0-4: pos(x,y), battery, carrying, phase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5-7: target Δx, Δy, Manhattan dist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8-11: rack + goal coords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12-19: 4 pending order racks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20-31: 4 nearest agents (Δx,Δy,carrying)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32-56: local 5×5 grid view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65760" y="1875129"/>
            <a:ext cx="4846320" cy="9144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1961388"/>
            <a:ext cx="1024128" cy="23774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5760" y="196138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44752" y="1760829"/>
            <a:ext cx="18318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5: N / S / E / W / WAIT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auto-triggers on rack arrival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auto-triggers on goal arrival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65760" y="2322576"/>
            <a:ext cx="4846320" cy="9144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65760" y="2391156"/>
            <a:ext cx="1024128" cy="23774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" name="Text 18"/>
          <p:cNvSpPr/>
          <p:nvPr/>
        </p:nvSpPr>
        <p:spPr>
          <a:xfrm>
            <a:off x="365760" y="2359152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444752" y="236829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given joint state + action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drain 0.4/move, 0.1/idle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batt (&lt;20%): DQN overridden → charger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inject every 120 steps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65760" y="2944368"/>
            <a:ext cx="4846320" cy="9144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5760" y="2980944"/>
            <a:ext cx="1024128" cy="23774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65760" y="298094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444752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Delivery+32, Pickup+8, Progress+0.6/unit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Move-away−1.2, Collision−1, Step−0.012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empty−6, Assist+2.5, Team+55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4846320" cy="9144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347472" y="3625596"/>
            <a:ext cx="1024128" cy="23774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65760" y="3602736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 γ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4752" y="3611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  — values future deliveries strongly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still penalising battery waste soon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5486400" y="658368"/>
            <a:ext cx="340156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486400" y="658368"/>
            <a:ext cx="3401568" cy="43891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614416" y="768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Function Rationale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14416" y="1115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delivery_complete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6912864" y="111556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+32.0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406640" y="11155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pickup — strong terminal signal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614416" y="1444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pickup_item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6912864" y="14447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406640" y="14447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for reaching rack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614416" y="17739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6912864" y="17739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06640" y="17739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guidance per unit closer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614416" y="21031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move_away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6912864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406640" y="2103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progress — stops oscillation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614416" y="24323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6912864" y="2432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−1.0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406640" y="24323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wall/agent/rack penalty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614416" y="27614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time_step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6912864" y="27614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−0.012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406640" y="2761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steps → −7.2 total pressure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614416" y="30906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battery_empty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6912864" y="3090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406640" y="3090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~0.75 deliveries lost — severe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14416" y="34198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picker_assist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6912864" y="341985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406640" y="34198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 proximity incentive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5614416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team_bonus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6912864" y="37490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+55.0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406640" y="37490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completion signal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Key Papers — Contributions &amp; Gaps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Literature Survey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632446"/>
              </p:ext>
            </p:extLst>
          </p:nvPr>
        </p:nvGraphicFramePr>
        <p:xfrm>
          <a:off x="182880" y="658368"/>
          <a:ext cx="8668512" cy="4224528"/>
        </p:xfrm>
        <a:graphic>
          <a:graphicData uri="http://schemas.openxmlformats.org/drawingml/2006/table">
            <a:tbl>
              <a:tblPr/>
              <a:tblGrid>
                <a:gridCol w="259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39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2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58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80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Authors/Year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Title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Contribution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/ Relevance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Mnih (2015)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Human-Level Control via DQN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518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end-to-end DRL with replay &amp; target net — foundational backbone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Single-agent; no logistics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(2016)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Dueling Network Architectures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ICML 2016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V+A decomposition used directly in TA-RWARE backbone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Atari only; no MARL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 Hasselt (2016)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 Q-Learning (DDQN)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AAAI 2016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Decouples selection &amp; evaluation — used in target updates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MARL/logistics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Schaul (2016)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Prioritized Experience Replay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ICLR 2016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TD-error priority sampling — planned TA-RWARE upgrade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use uniform replay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Christianos (2020)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SEAC + RWARE Benchmark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2020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Introduced RWARE env — inspired TA-RWARE environment design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AC; DQN unexplored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Papoudakis (2021)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Benchmarking MARL Algos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D&amp;B 2021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MARL benchmark — informed our baseline evaluation protocol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battery/picker agents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Krnjaic (2022)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Scalable MARL Warehouse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 2212.11498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Hierarchical MARL for AGV+picker — closest prior work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battery; no dashboard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Gankin (2022)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MARL DQN for AGV Routing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Front. Robotics AI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DQN+replay for grid AGV routing — validates DQN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agent type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 (2023)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Energy-Efficient AGV MARL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MDPI/PMC 2023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Energy-min MARL routing — motivates battery reward design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pickers; no shaping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Löffler (2022)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Picker Routing in AGV Systems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INFORMS J.Comp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picker-AGV routing — motivates picker assist reward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approach; not RL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System Architecture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5705856" y="998525"/>
            <a:ext cx="3401568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705856" y="998525"/>
            <a:ext cx="34015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833872" y="110825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33872" y="1483157"/>
            <a:ext cx="50292" cy="5486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5925312" y="1519733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Override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25312" y="1757477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batt &lt; 20%, DQN overridden — agent routes to charger automatically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833872" y="2141525"/>
            <a:ext cx="50292" cy="5486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5925312" y="2178101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Auto-Pickup/Drop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925312" y="2415845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onto rack/goal triggers transition — no ACT action, removes bottleneck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33872" y="2799893"/>
            <a:ext cx="50292" cy="5486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5925312" y="2836469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Learners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25312" y="3074213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DQNAgent — no weight sharing between roles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833872" y="3458261"/>
            <a:ext cx="50292" cy="5486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5925312" y="3494837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Injection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925312" y="3732581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orders every 120 steps — non-stationary demand during episode</a:t>
            </a:r>
            <a:endParaRPr lang="en-US" sz="850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6589DB3-CB67-DD0F-6FAA-ED7431F2E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2" y="1036889"/>
            <a:ext cx="5608540" cy="26106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Architecture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Map with Relationships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Component Architecture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28600" y="667512"/>
            <a:ext cx="274320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28600" y="658368"/>
            <a:ext cx="2743200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20040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WarehouseEnv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10424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envs/warehouse_env.py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38328" y="128016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grid: ndarray(H×W)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338328" y="148132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agents: List[Agent]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338328" y="168249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orders: List[Order]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338328" y="179222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rack/goal/charge_cells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56616" y="1853489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38328" y="2017167"/>
            <a:ext cx="2523744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reset(seed)→obs,info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338328" y="217627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step(actions)→obs,rews,term,trunc,info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338328" y="23225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_observe(idx)→float32[57]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338328" y="2498141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_assign_orders() nearest-first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18688" y="658368"/>
            <a:ext cx="274320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218688" y="658368"/>
            <a:ext cx="2743200" cy="347472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310128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DQNAgent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10128" y="10424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agents/dqn_agent.py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310128" y="1243584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328416" y="128016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policy: DuelingDQN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3328416" y="148132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target: DuelingDQN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3328416" y="168249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buf: ReplayBuffer(30k)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3328416" y="188366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ε→0.05 decay=0.9985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3310128" y="1883664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328416" y="204277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act(state,train)→int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3328416" y="218602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store(s,a,r,s2,done)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3328416" y="23225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learn()→{loss,q}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3337560" y="248716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save/load(path)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658368"/>
            <a:ext cx="274320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6172200" y="658368"/>
            <a:ext cx="2743200" cy="34747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263640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DuelingDQN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63640" y="10424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agents/network.py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263640" y="1243584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281928" y="128016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shared: Linear(in,256→128)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6281928" y="148132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value: Linear(128,64→1)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6281928" y="168249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adv: Linear(128,64→5)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263640" y="1883664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6281928" y="192024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forward(x)→Q[batch,5]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6281928" y="212140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act(x)→int argmax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228600" y="2816352"/>
            <a:ext cx="274320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228600" y="2816352"/>
            <a:ext cx="2743200" cy="347472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320040" y="2871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ReplayBuffer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20040" y="32004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agents/replay_buffer.py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20040" y="3401568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38328" y="343814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buf: deque(maxlen=30k)</a:t>
            </a:r>
            <a:endParaRPr lang="en-US" sz="780" dirty="0"/>
          </a:p>
        </p:txBody>
      </p:sp>
      <p:sp>
        <p:nvSpPr>
          <p:cNvPr id="53" name="Text 51"/>
          <p:cNvSpPr/>
          <p:nvPr/>
        </p:nvSpPr>
        <p:spPr>
          <a:xfrm>
            <a:off x="338328" y="363931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device: cpu/cuda</a:t>
            </a:r>
            <a:endParaRPr lang="en-US" sz="780" dirty="0"/>
          </a:p>
        </p:txBody>
      </p:sp>
      <p:sp>
        <p:nvSpPr>
          <p:cNvPr id="54" name="Shape 52"/>
          <p:cNvSpPr/>
          <p:nvPr/>
        </p:nvSpPr>
        <p:spPr>
          <a:xfrm>
            <a:off x="320040" y="4041648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338328" y="407822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push(s,a,r,s2,done)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338328" y="427939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sample(64)→tensors</a:t>
            </a:r>
            <a:endParaRPr lang="en-US" sz="780" dirty="0"/>
          </a:p>
        </p:txBody>
      </p:sp>
      <p:sp>
        <p:nvSpPr>
          <p:cNvPr id="57" name="Text 55"/>
          <p:cNvSpPr/>
          <p:nvPr/>
        </p:nvSpPr>
        <p:spPr>
          <a:xfrm>
            <a:off x="338328" y="448056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ready(bs)→bool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3218688" y="2816352"/>
            <a:ext cx="274320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3218688" y="2816352"/>
            <a:ext cx="2743200" cy="347472"/>
          </a:xfrm>
          <a:prstGeom prst="rect">
            <a:avLst/>
          </a:prstGeom>
          <a:solidFill>
            <a:srgbClr val="6B8899"/>
          </a:solidFill>
          <a:ln w="12700">
            <a:solidFill>
              <a:srgbClr val="6B8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310128" y="2871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310128" y="32004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utils/logger.py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310128" y="3401568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3328416" y="343814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rewards, deliveries, losses</a:t>
            </a:r>
            <a:endParaRPr lang="en-US" sz="780" dirty="0"/>
          </a:p>
        </p:txBody>
      </p:sp>
      <p:sp>
        <p:nvSpPr>
          <p:cNvPr id="64" name="Text 62"/>
          <p:cNvSpPr/>
          <p:nvPr/>
        </p:nvSpPr>
        <p:spPr>
          <a:xfrm>
            <a:off x="3328416" y="363931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agent_episode_metrics</a:t>
            </a:r>
            <a:endParaRPr lang="en-US" sz="780" dirty="0"/>
          </a:p>
        </p:txBody>
      </p:sp>
      <p:sp>
        <p:nvSpPr>
          <p:cNvPr id="65" name="Shape 63"/>
          <p:cNvSpPr/>
          <p:nvPr/>
        </p:nvSpPr>
        <p:spPr>
          <a:xfrm>
            <a:off x="3310128" y="4041648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3328416" y="407822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log_ep(ep,m)</a:t>
            </a:r>
            <a:endParaRPr lang="en-US" sz="780" dirty="0"/>
          </a:p>
        </p:txBody>
      </p:sp>
      <p:sp>
        <p:nvSpPr>
          <p:cNvPr id="67" name="Text 65"/>
          <p:cNvSpPr/>
          <p:nvPr/>
        </p:nvSpPr>
        <p:spPr>
          <a:xfrm>
            <a:off x="3328416" y="427939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log_train(step,loss,q)</a:t>
            </a:r>
            <a:endParaRPr lang="en-US" sz="780" dirty="0"/>
          </a:p>
        </p:txBody>
      </p:sp>
      <p:sp>
        <p:nvSpPr>
          <p:cNvPr id="68" name="Text 66"/>
          <p:cNvSpPr/>
          <p:nvPr/>
        </p:nvSpPr>
        <p:spPr>
          <a:xfrm>
            <a:off x="3328416" y="448056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save()→metrics.json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6172200" y="2816352"/>
            <a:ext cx="274320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6172200" y="2816352"/>
            <a:ext cx="2743200" cy="347472"/>
          </a:xfrm>
          <a:prstGeom prst="rect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6263640" y="2871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+ Tests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263640" y="32004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agents/baseline_policies.py · tests/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263640" y="3401568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6281928" y="343814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greedy_actions(env)</a:t>
            </a:r>
            <a:endParaRPr lang="en-US" sz="780" dirty="0"/>
          </a:p>
        </p:txBody>
      </p:sp>
      <p:sp>
        <p:nvSpPr>
          <p:cNvPr id="75" name="Text 73"/>
          <p:cNvSpPr/>
          <p:nvPr/>
        </p:nvSpPr>
        <p:spPr>
          <a:xfrm>
            <a:off x="6281928" y="363931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random_actions(env,rng)</a:t>
            </a:r>
            <a:endParaRPr lang="en-US" sz="780" dirty="0"/>
          </a:p>
        </p:txBody>
      </p:sp>
      <p:sp>
        <p:nvSpPr>
          <p:cNvPr id="76" name="Text 74"/>
          <p:cNvSpPr/>
          <p:nvPr/>
        </p:nvSpPr>
        <p:spPr>
          <a:xfrm>
            <a:off x="6281928" y="3840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6 unit tests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6263640" y="4041648"/>
            <a:ext cx="25603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6281928" y="407822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Manhattan-distance dispatch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6281928" y="427939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test_state_dim, test_battery</a:t>
            </a:r>
            <a:endParaRPr lang="en-US" sz="780" dirty="0"/>
          </a:p>
        </p:txBody>
      </p:sp>
      <p:sp>
        <p:nvSpPr>
          <p:cNvPr id="80" name="Text 78"/>
          <p:cNvSpPr/>
          <p:nvPr/>
        </p:nvSpPr>
        <p:spPr>
          <a:xfrm>
            <a:off x="6281928" y="448056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test_reset_seed, test_pickup</a:t>
            </a:r>
            <a:endParaRPr lang="en-US" sz="780" dirty="0"/>
          </a:p>
        </p:txBody>
      </p:sp>
      <p:sp>
        <p:nvSpPr>
          <p:cNvPr id="81" name="Shape 79"/>
          <p:cNvSpPr/>
          <p:nvPr/>
        </p:nvSpPr>
        <p:spPr>
          <a:xfrm>
            <a:off x="1527048" y="2688336"/>
            <a:ext cx="146304" cy="128016"/>
          </a:xfrm>
          <a:prstGeom prst="downArrow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Shape 80"/>
          <p:cNvSpPr/>
          <p:nvPr/>
        </p:nvSpPr>
        <p:spPr>
          <a:xfrm>
            <a:off x="4517136" y="2688336"/>
            <a:ext cx="146304" cy="128016"/>
          </a:xfrm>
          <a:prstGeom prst="downArrow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81"/>
          <p:cNvSpPr/>
          <p:nvPr/>
        </p:nvSpPr>
        <p:spPr>
          <a:xfrm>
            <a:off x="7470648" y="2688336"/>
            <a:ext cx="146304" cy="128016"/>
          </a:xfrm>
          <a:prstGeom prst="downArrow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Neural Network Architecture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Dueling DQN — V+A Decomposition, Design Rationale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DNN Architecture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749808"/>
            <a:ext cx="1143000" cy="1901952"/>
          </a:xfrm>
          <a:prstGeom prst="rect">
            <a:avLst/>
          </a:prstGeom>
          <a:solidFill>
            <a:srgbClr val="E8F4F5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65176" y="841248"/>
            <a:ext cx="1014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2608" y="1335024"/>
            <a:ext cx="9601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65176" y="1371600"/>
            <a:ext cx="1014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∈ ℝ⁵⁷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65176" y="166420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57-dim state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per agent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44168" y="1554480"/>
            <a:ext cx="274320" cy="146304"/>
          </a:xfrm>
          <a:prstGeom prst="rightArrow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572768" y="749808"/>
            <a:ext cx="1143000" cy="1901952"/>
          </a:xfrm>
          <a:prstGeom prst="rect">
            <a:avLst/>
          </a:prstGeom>
          <a:solidFill>
            <a:srgbClr val="0F1F3D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636776" y="841248"/>
            <a:ext cx="1014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256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+ReLU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64208" y="1335024"/>
            <a:ext cx="9601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636776" y="1371600"/>
            <a:ext cx="1014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636776" y="166420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neurons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 init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15768" y="1554480"/>
            <a:ext cx="274320" cy="146304"/>
          </a:xfrm>
          <a:prstGeom prst="rightArrow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944368" y="749808"/>
            <a:ext cx="1143000" cy="1901952"/>
          </a:xfrm>
          <a:prstGeom prst="rect">
            <a:avLst/>
          </a:prstGeom>
          <a:solidFill>
            <a:srgbClr val="1A2E4A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008376" y="841248"/>
            <a:ext cx="1014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128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+ReLU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35808" y="1335024"/>
            <a:ext cx="96012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008376" y="1371600"/>
            <a:ext cx="1014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008376" y="166420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neurons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 init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087368" y="1700784"/>
            <a:ext cx="3840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471416" y="1188720"/>
            <a:ext cx="0" cy="1152144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471416" y="1188720"/>
            <a:ext cx="347472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471416" y="2340864"/>
            <a:ext cx="347472" cy="0"/>
          </a:xfrm>
          <a:prstGeom prst="line">
            <a:avLst/>
          </a:prstGeom>
          <a:noFill/>
          <a:ln w="254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800600" y="749808"/>
            <a:ext cx="1389888" cy="7680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800600" y="80467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STREAM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10972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E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64+ReLU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CE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V(s) ∈ ℝ¹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800600" y="1883664"/>
            <a:ext cx="1389888" cy="768096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800600" y="193852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 STREAM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00600" y="2231136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E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64+ReLU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CE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A(s,a) ∈ ℝ⁵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90488" y="1133856"/>
            <a:ext cx="0" cy="475488"/>
          </a:xfrm>
          <a:prstGeom prst="line">
            <a:avLst/>
          </a:prstGeom>
          <a:noFill/>
          <a:ln w="1905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6190488" y="2267712"/>
            <a:ext cx="0" cy="0"/>
          </a:xfrm>
          <a:prstGeom prst="line">
            <a:avLst/>
          </a:prstGeom>
          <a:noFill/>
          <a:ln w="1905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6190488" y="1627632"/>
            <a:ext cx="320040" cy="146304"/>
          </a:xfrm>
          <a:prstGeom prst="rightArrow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510528" y="1060704"/>
            <a:ext cx="1508760" cy="120700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510528" y="117043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Q(s, a)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10528" y="15910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V(s)+A(s,a)−mean(A)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510528" y="18836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argmax→action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01168" y="2788920"/>
            <a:ext cx="8741664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274320" y="2816352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Q(s,a) = V(s) + ( A(s,a) − mean_{a'}[ A(s,a') ] )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01168" y="3182112"/>
            <a:ext cx="160934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01168" y="3182112"/>
            <a:ext cx="1609344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83464" y="3291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DDQN</a:t>
            </a:r>
            <a:r>
              <a:rPr lang="en-US" sz="900" dirty="0"/>
              <a:t> </a:t>
            </a: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83464" y="3694176"/>
            <a:ext cx="14447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target nets synced every 300 steps. Prevents Q-value overestimation.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1920240" y="3182112"/>
            <a:ext cx="160934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1920240" y="3182112"/>
            <a:ext cx="1609344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2002536" y="3291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002536" y="3694176"/>
            <a:ext cx="14447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Linear layers init uniform Xavier, zero bias. Stable on sparse rewards.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3639312" y="3182112"/>
            <a:ext cx="160934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3639312" y="3182112"/>
            <a:ext cx="1609344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721608" y="3291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Huber Loss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(SmoothL1)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721608" y="3694176"/>
            <a:ext cx="14447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large TD errors. Robust to early instability &amp; team-bonus spikes (+55).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5358384" y="3182112"/>
            <a:ext cx="160934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5358384" y="3182112"/>
            <a:ext cx="1609344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5440680" y="3291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 Clip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1.0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40680" y="3694176"/>
            <a:ext cx="14447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Norm-clipped backprop prevents explosion on rare high-reward delivery events.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7077456" y="3182112"/>
            <a:ext cx="160934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1" name="Shape 59"/>
          <p:cNvSpPr/>
          <p:nvPr/>
        </p:nvSpPr>
        <p:spPr>
          <a:xfrm>
            <a:off x="7077456" y="3182112"/>
            <a:ext cx="1609344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7159752" y="3291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159752" y="3694176"/>
            <a:ext cx="14447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a DQNAgent. Heterogeneous roles kept separate; no weight mix.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545099-4E51-201A-F770-940430698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527CB-1E69-7FDE-2FFE-94D2C1A4322B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F927784-CED4-77A2-0BC6-E265ABC982CC}"/>
              </a:ext>
            </a:extLst>
          </p:cNvPr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Dueling DQN Architecture</a:t>
            </a:r>
            <a:endParaRPr lang="en-US" sz="1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26E825D-7588-2548-270D-66BBBB98BE1E}"/>
              </a:ext>
            </a:extLst>
          </p:cNvPr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Dueling DQN — V+A Decomposition, Design Rationale</a:t>
            </a:r>
            <a:endParaRPr lang="en-US" sz="9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71F3F14-2808-A3A9-06FD-D92D7920788B}"/>
              </a:ext>
            </a:extLst>
          </p:cNvPr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EFAE034-369C-AABB-B58E-14C0BB011317}"/>
              </a:ext>
            </a:extLst>
          </p:cNvPr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DNN Architecture</a:t>
            </a:r>
            <a:endParaRPr lang="en-US" sz="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D0B3C3F-FDBB-7A4C-E7F8-36CFC6F73A45}"/>
              </a:ext>
            </a:extLst>
          </p:cNvPr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2DE9CF41-815F-F1A1-8190-9647F4FFA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30" y="649224"/>
            <a:ext cx="7678670" cy="38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345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Part 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Environment, Enums &amp; Observation Vector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Implementation  1/4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422452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01168" y="658368"/>
            <a:ext cx="422452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47472" y="768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WarehouseEnv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" y="10698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envs/warehouse_env.py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3968496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7472" y="129844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Attributes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155448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grid: ndarray(H×W)  — Cell enum values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488" y="182880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agents: List[Agent]  (AGVs + Pickers)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5488" y="210312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orders: List[Order]  — dynamic injection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75488" y="237744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rack/goal/charge_cells: List[tuple]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5488" y="265176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batt_cap=280  batt_lo=0.20  bd_move=0.4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7472" y="2962656"/>
            <a:ext cx="3968496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" y="29809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23697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reset(seed) → List[obs], info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5488" y="351129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step(actions) → obs, rews, term, trunc, info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5488" y="378561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_observe(idx) → np.float32[57]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75488" y="405993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_assign_orders()  nearest-first AGV↔order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5488" y="433425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_build_grid()  walls + rack/goal/charge layout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08576" y="658368"/>
            <a:ext cx="429768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608576" y="658368"/>
            <a:ext cx="4297680" cy="43891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736592" y="7680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&amp; Dataclasses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069848"/>
            <a:ext cx="402336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736592" y="113385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Cell: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15584" y="1133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WALL  RACK  GOAL  CHARGE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38988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AgentType: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815584" y="138988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AGV=0  PICKER=1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164592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Phase: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15584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 TO_PICKUP  TO_GOAL  CHARGING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36592" y="190195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Order: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815584" y="19019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rack_pos, goal_pos, agv_id, done, timestamps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36592" y="215798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15584" y="215798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type, pos, phase, order, battery, metrics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08576" y="2706624"/>
            <a:ext cx="429768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4608576" y="2706624"/>
            <a:ext cx="4297680" cy="43891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4736592" y="28163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Vector — 57 Dimensions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36592" y="3118104"/>
            <a:ext cx="402336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4736592" y="3182112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(5):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943600" y="318211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state: pos_x, pos_y, battery, carrying, phase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36592" y="3438144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(3):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943600" y="343814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δx, δy, Manhattan dist to target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736592" y="3694176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8–11 (4):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943600" y="369417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rack + goal coords (or picker target)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736592" y="3950208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(8):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943600" y="39502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 pending order rack positions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36592" y="4206240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20–31 (12):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943600" y="4206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 nearest agents: δx, δy, carrying flag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736592" y="4462272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32–56 (25):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943600" y="44622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5×5 grid perception (cell type / 5.0)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Part 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Agent, Dueling Network &amp; Replay Buffer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Implementation  2/4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422452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01168" y="658368"/>
            <a:ext cx="4224528" cy="43891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47472" y="7680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DQNAgent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" y="10698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agents/dqn_agent.py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3968496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7472" y="129844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155448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policy: DuelingDQN  (action selection)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488" y="182880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target: DuelingDQN  (stable bootstrap targets)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5488" y="210312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buf: ReplayBuffer(capacity=30,000)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75488" y="237744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ε: 1.0→0.05  decay=0.9985  per episode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5488" y="2651760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γ=0.97  lr=0.0005  batch=64  tgt_upd=300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7472" y="2962656"/>
            <a:ext cx="3968496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" y="29809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23697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act(state, train) → int  (ε-greedy or greedy)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5488" y="351129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store(s,a,r,s2,done) → push to ReplayBuffer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5488" y="378561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learn() → {loss, q}  (DDQN update step)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75488" y="405993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decay_eps()  ε ← max(ε_end, ε × 0.9985)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5488" y="4334256"/>
            <a:ext cx="3822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save/load(path)  policy, target, opt, eps dict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08576" y="658368"/>
            <a:ext cx="4297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608576" y="658368"/>
            <a:ext cx="4297680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736592" y="7680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DuelingDQN  (agents/network.py)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069848"/>
            <a:ext cx="402336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736592" y="113385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shared: Sequential  Linear(in,256)→ReLU→Linear(256,128)→ReLU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36592" y="138988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value:  Sequential  Linear(128,64)→ReLU→Linear(64,1)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6459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adv:    Sequential  Linear(128,64)→ReLU→Linear(64,5)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36592" y="19019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forward(x) → V(s)+(A(s,a)−mean[A])  Q-values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21579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act(x) → argmax Q  (torch.no_grad, inference)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608576" y="3090672"/>
            <a:ext cx="429768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608576" y="3090672"/>
            <a:ext cx="4297680" cy="43891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736592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ReplayBuffer  (agents/replay_buffer.py)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36592" y="3502152"/>
            <a:ext cx="4023360" cy="10973"/>
          </a:xfrm>
          <a:prstGeom prst="rect">
            <a:avLst/>
          </a:prstGeom>
          <a:solidFill>
            <a:srgbClr val="D0E4E6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4736592" y="356616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buf: deque(maxlen=30,000)  — circular ring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36592" y="384048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push(s,a,r,s2,done)  stores float32 arrays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36592" y="411480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sample(64) → (s,a,r,s2,d) as GPU/CPU tensors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36592" y="438912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ready(bs) → bool  blocks until buf ≥ bs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Part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Loop, Reproducibility &amp; Logger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90795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Implementation  3/4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700784" y="1426464"/>
            <a:ext cx="5120640" cy="2212848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920240" y="1470878"/>
            <a:ext cx="4901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train.py — training loop (key sections)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920240" y="1672046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Global seeding for reproducibility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1920240" y="1806593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 = cfg['training']['seed']  # default 42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1920240" y="1941141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random.seed(seed); np.random.seed(seed)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1920240" y="2075688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torch.manual_seed(seed)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1920240" y="2210236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1920240" y="2344783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ep in range(3000):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1920240" y="2479331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obs, info = env.reset(seed=seed + ep)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1920240" y="2613878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not done: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920240" y="2748425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acts = [dqns[i].act(obs[i], train=True)]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1920240" y="2882973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obs,rews,term,trunc,info = env.step(acts)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920240" y="3017520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dqns[i].store(obs,act,rew,next_obs,done)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920240" y="3152068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step%upd_frq==0: dqns[i].learn()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1920240" y="3286615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dqns[i].decay_eps()   # multiplicative decay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1920240" y="3421163"/>
            <a:ext cx="4901184" cy="134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ep%eval_freq==0: eval_run() → save best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Code — Part 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step(): Battery Logic &amp; Auto-Pickup/Drop  (warehouse_env.py)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Core Code  1/3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8741664" cy="42062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10896" y="731520"/>
            <a:ext cx="852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envs/warehouse_env.py  —  step()  (key sections)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10896" y="932688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step(self, actions):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310896" y="1076283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self.steps += 1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310896" y="1219877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rewards = [cfg['rewards']['time_step']] * n_agents   # −0.012 per agent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310896" y="1363472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i, agent in enumerate(self.agents):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310896" y="1507067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── Charging ──────────────────────────────────────────────────────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10896" y="1650661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agent.charging: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310896" y="1794256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agent.battery = min(cap, battery + recharge_rate);  continue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310896" y="1937851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── Battery empty → penalty + force to nearest charger ────────────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310896" y="2081445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agent.battery &lt;= 0: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310896" y="2225040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rewards[i] += cfg['rewards']['battery_empty']   # −6.0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310896" y="2368635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self._step_toward(agent, nearest_charger, occupied);  continue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310896" y="2512229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── Battery low (&lt;20%) → proactive charging override ───────────────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10896" y="2655824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agent.battery / batt_cap &lt; batt_lo: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10896" y="2799419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self._step_toward(agent, charger, occupied);  continue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10896" y="2943013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── Normal navigation (DQN action applied) ─────────────────────────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310896" y="3086608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valid_move: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310896" y="3230203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agent.pos = dest;   agent.battery -= bd_move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10896" y="3373797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agent.pos == order.rack_pos:              # ✅  AUTO PICKUP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310896" y="3517392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agent.phase = TO_GOAL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310896" y="3660987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rewards[i] += cfg['rewards']['pickup_item']   # +8.0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310896" y="3804581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elif agent.pos == order.goal_pos:            # ✅  AUTO DROP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310896" y="3948176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order.done = True;   total_delivered += 1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310896" y="4091771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rewards[i] += cfg['rewards']['delivery_complete']   # +32.0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10896" y="4235365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rewards[i] += progress_shaping(old_dist, new_dist)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310896" y="4378960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 rewards[i] += cfg['rewards']['collision']   # −1.0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10896" y="4522555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all(o.done for o in orders):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310896" y="4666149"/>
            <a:ext cx="8522208" cy="143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range(n_agents): rewards[i] += team_bonus   # +55.0</a:t>
            </a:r>
            <a:endParaRPr lang="en-US" sz="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Code — Part 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learn() &amp; Progress-Shaping Reward  (dqn_agent.py)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Core Code  2/3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4334256" cy="42062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10896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agents/dqn_agent.py  —  learn()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10896" y="932688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learn(self):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310896" y="1117310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self.buf.ready(self.bs): return {}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310896" y="1301931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s, a, r, s2, d = self.buf.sample(self.bs)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310896" y="1486553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DDQN: decouple selection and evaluation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310896" y="1671175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torch.no_grad():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10896" y="1855797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best_a = self.policy(s2).argmax(1, keepdim=True)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310896" y="2040418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tgt_q  = r + (1-d) * γ * self.target(s2)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310896" y="2225040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.gather(1, best_a).squeeze(1)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310896" y="2409662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cur_q = self.policy(s).gather(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310896" y="2594283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1, a.unsqueeze(1)).squeeze(1)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310896" y="2778905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Huber loss (SmoothL1) — clips large TD errors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310896" y="2963527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= nn.SmoothL1Loss()(cur_q, tgt_q)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10896" y="3148149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self.opt.zero_grad()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10896" y="3332770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loss.backward()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10896" y="3517392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torch.nn.utils.clip_grad_norm_(params, 1.0)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310896" y="3702014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self.opt.step()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310896" y="3886635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Target network sync every 300 updates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10896" y="4071257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self.upd_ctr % self.tgt_upd == 0: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310896" y="4255879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self.target.load_state_dict(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310896" y="4440501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self.policy.state_dict())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310896" y="4625122"/>
            <a:ext cx="4114800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{'loss': loss.item(), 'q': cur_q.mean().item()}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4645152" y="658368"/>
            <a:ext cx="4297680" cy="42062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54880" y="731520"/>
            <a:ext cx="4078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Progress shaping  (inside step(), after valid move)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754880" y="932688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new_dist = self._dist_to_target(agent)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4754880" y="1117310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Anchor resets when target changes (pickup done)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54880" y="1301931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new_progress_key != old_key: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754880" y="1486553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agent.best_dist = new_dist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4754880" y="1671175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Reward when moving closer to target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4754880" y="1855797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new_dist &lt; agent.best_dist: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4754880" y="2040418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rewards[i] += progress*(best-new_dist)  # +0.6/unit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754880" y="2225040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agent.best_dist = new_dist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4754880" y="2409662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Penalty when moving away from target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754880" y="2594283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new_dist &gt; old_dist: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4754880" y="2778905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rewards[i] += move_away*(new_dist-old_dist)# −1.2/unit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4754880" y="2963527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4754880" y="3148149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_dist_to_target  (Manhattan distance)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754880" y="3332770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_dist_to_target(self, agent):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4754880" y="3517392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agent.phase == TO_PICKUP: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4754880" y="3702014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tgt = agent.order.rack_pos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754880" y="3886635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agent.phase == TO_GOAL: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754880" y="4071257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tgt = agent.order.goal_pos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754880" y="4255879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agent.type == PICKER: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4754880" y="4440501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tgt = self._picker_target(agent)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4754880" y="4625122"/>
            <a:ext cx="4078224" cy="18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|pos[0]-tgt[0]| + |pos[1]-tgt[1]|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Code — Part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Builder &amp; Greedy Baseline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Core Code  3/3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4334256" cy="42062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10896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_observe(idx)  —  57-dim state builder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10896" y="932688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 = np.zeros(57, dtype=np.float32)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310896" y="1126541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Own state (dims 0–4)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310896" y="1320394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put(pos_x/W, pos_y/H, battery/cap, carrying, phase/3)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310896" y="1514246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Target direction (dims 5–7)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310896" y="1708099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tgt = goal_pos if carrying else rack_pos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10896" y="1901952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put(δx/W, δy/H, manhattan/(W+H))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310896" y="2095805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Order coords (dims 8–11)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310896" y="2289658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put(rack_x/W, rack_y/H, goal_x/W, goal_y/H)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310896" y="2483510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Pending orders (dims 12–19, up to 4)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310896" y="2677363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o in unassigned_orders[:4]: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310896" y="2871216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put(o.rack_x/W, o.rack_y/H)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310896" y="3065069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Nearest agents (dims 20–31, up to 4)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10896" y="3258922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ag in sorted_by_distance[:4]: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10896" y="3452774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put(δx/W, δy/H, ag.carrying_flag)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10896" y="3646627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Local 5×5 grid (dims 32–56)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310896" y="3840480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dr in range(-2, 3):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310896" y="4034333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dc in range(-2, 3):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10896" y="4228186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cell = grid[pos_y+dr, pos_x+dc]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310896" y="4422038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put(cell/5.0)   # 5.0=other agent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310896" y="4615891"/>
            <a:ext cx="4114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obs[:57]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4645152" y="658368"/>
            <a:ext cx="4297680" cy="42062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754880" y="731520"/>
            <a:ext cx="4078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baseline_policies.py  —  greedy_actions(env)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754880" y="932688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greedy_actions(env):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4754880" y="1108918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occupied={tuple(a.pos) for a in env.agents}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4754880" y="1285148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agent in env.agents: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54880" y="1461377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Priority: 1.battery low→charger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754880" y="1637607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          2.AGV+order→rack or goal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4754880" y="1813837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          3.Picker→nearest active goal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4754880" y="1990067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 = _agent_target(env, agent)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4754880" y="2166297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target is None: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754880" y="2342527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actions.append(WAIT);  continue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4754880" y="2518756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WAIT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754880" y="2694986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best_score = manhattan(agent.pos, target)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4754880" y="2871216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act, (dc, dr) in MOVES.items():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4754880" y="3047446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dest = (pos[0]+dc, pos[1]+dr)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4754880" y="3223676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_valid_move(env,agent,dest): continue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754880" y="3399905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score = manhattan(dest, target)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4754880" y="3576135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score &lt; best_score: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4754880" y="3752365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best_score = score; best = act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754880" y="3928595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actions.append(best)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754880" y="4104825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actions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754880" y="4281055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4754880" y="4457284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random_actions(env, rng=None):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4754880" y="4633514"/>
            <a:ext cx="4078224" cy="176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[int(rng.integers(env.action_dim))...]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Policy Comparison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3-Seed Evaluation  (seeds: 1234, 1235, 1236)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01168" y="658368"/>
            <a:ext cx="1920240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01168" y="749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+154.6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1168" y="1252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Reward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(DDQN)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965960" y="658368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965960" y="658368"/>
            <a:ext cx="1920240" cy="43891"/>
          </a:xfrm>
          <a:prstGeom prst="rect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965960" y="749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 / 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965960" y="1252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Deliveries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(DDQN)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730752" y="658368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730752" y="658368"/>
            <a:ext cx="1920240" cy="43891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730752" y="749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730752" y="1252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(DDQN)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95544" y="658368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495544" y="658368"/>
            <a:ext cx="1920240" cy="43891"/>
          </a:xfrm>
          <a:prstGeom prst="rect">
            <a:avLst/>
          </a:prstGeom>
          <a:solidFill>
            <a:srgbClr val="6B8899"/>
          </a:solidFill>
          <a:ln w="12700">
            <a:solidFill>
              <a:srgbClr val="6B8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95544" y="749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95544" y="1252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Reward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(Greedy)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260336" y="658368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7260336" y="658368"/>
            <a:ext cx="1920240" cy="43891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260336" y="749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−1654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60336" y="1252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Reward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(Random)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9704"/>
              </p:ext>
            </p:extLst>
          </p:nvPr>
        </p:nvGraphicFramePr>
        <p:xfrm>
          <a:off x="201168" y="1737360"/>
          <a:ext cx="8741664" cy="31272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DDQN (Rank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(Rank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1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(Rank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Reward ± Std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+154.6 ± 715.2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 ± 35.2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−1654 ± 45.2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Deliveries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 / 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 / 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/ 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Completion %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Steps to Done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 steps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steps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steps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 / 100 steps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Collisions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Charge Visits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Order Cycle Time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 steps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 steps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(none)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3A49A1-768D-9E42-4A80-09AF04CC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8C22832-38E0-12A7-41EB-335C5F49EA56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4A4563-E61C-AFE8-2707-BD3C6FB3366D}"/>
              </a:ext>
            </a:extLst>
          </p:cNvPr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Training Curves</a:t>
            </a:r>
            <a:endParaRPr lang="en-US" sz="1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9E54E97-9217-579D-C66F-81E035933559}"/>
              </a:ext>
            </a:extLst>
          </p:cNvPr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 from plot_results.py  ·  logs/runs/&lt;run&gt;/plots/</a:t>
            </a:r>
            <a:endParaRPr lang="en-US" sz="9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83E0D15-4728-63B3-E3B1-027C49F87BAA}"/>
              </a:ext>
            </a:extLst>
          </p:cNvPr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2C7DAC1-BA84-111A-157C-EC575AEED5F6}"/>
              </a:ext>
            </a:extLst>
          </p:cNvPr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Results  2/4</a:t>
            </a:r>
            <a:endParaRPr lang="en-US" sz="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4D867D1-E3E5-1C59-8589-1C5731983DC5}"/>
              </a:ext>
            </a:extLst>
          </p:cNvPr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8209282E-ED40-179E-2FD4-7FB61D7CF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" y="660654"/>
            <a:ext cx="8465820" cy="2573246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465865CE-314F-4FD0-CB74-C77D563A2774}"/>
              </a:ext>
            </a:extLst>
          </p:cNvPr>
          <p:cNvSpPr txBox="1"/>
          <p:nvPr/>
        </p:nvSpPr>
        <p:spPr>
          <a:xfrm>
            <a:off x="419862" y="3311003"/>
            <a:ext cx="77030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 panels: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Episode Reward (raw + smoothed)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Deliveries/Episode,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Task Completion Rate %.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Shows convergence from ~−155 baseline to improved reward over training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35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3ACF7-1A93-04F2-C63B-CE25218AF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DB6280-602B-27C0-53FE-AA0C55EAA497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052E54A-4FBE-00E6-B5D6-DF2374E71E93}"/>
              </a:ext>
            </a:extLst>
          </p:cNvPr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Training Curves</a:t>
            </a:r>
            <a:endParaRPr lang="en-US" sz="1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E43664-1977-3652-2BC1-C38D9C10E730}"/>
              </a:ext>
            </a:extLst>
          </p:cNvPr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 from plot_results.py  ·  logs/runs/&lt;run&gt;/plots/</a:t>
            </a:r>
            <a:endParaRPr lang="en-US" sz="9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474195F-FE71-D803-C0D0-FE9D73F413AC}"/>
              </a:ext>
            </a:extLst>
          </p:cNvPr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2742D5-F5E2-DD8D-AEC9-03E98AAB2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" y="649224"/>
            <a:ext cx="8796528" cy="3480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F50FC15-BE2B-FC7E-59AC-CDC724A89654}"/>
              </a:ext>
            </a:extLst>
          </p:cNvPr>
          <p:cNvSpPr txBox="1"/>
          <p:nvPr/>
        </p:nvSpPr>
        <p:spPr>
          <a:xfrm>
            <a:off x="464820" y="4228870"/>
            <a:ext cx="8054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Histogram of episode rewards (30 bins) + rolling mean ± 1 std band.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734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B16BC-3CF3-E3C1-5657-0A8BD4C9F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964C57-68D0-7A63-03B8-037B43E34E99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9FC8409-5F2F-BC10-877B-434598C6DAAD}"/>
              </a:ext>
            </a:extLst>
          </p:cNvPr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Training Curves</a:t>
            </a:r>
            <a:endParaRPr lang="en-US" sz="1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5D462ED-D1EA-6927-902D-ACB7E689B3E6}"/>
              </a:ext>
            </a:extLst>
          </p:cNvPr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 from plot_results.py  ·  logs/runs/&lt;run&gt;/plots/</a:t>
            </a:r>
            <a:endParaRPr lang="en-US" sz="9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5B22ECD-E789-EC5E-AF84-8E470C200D32}"/>
              </a:ext>
            </a:extLst>
          </p:cNvPr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EAEA3D-1496-1F20-7FB6-9FF61E5D6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6927"/>
            <a:ext cx="9144000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10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33D4B6-F8B7-9616-70CF-44A194C44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28CDB5-7D84-3623-C4E5-C0864E3CCCB3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348280-E6C2-4BED-E9A8-3654F3AA8777}"/>
              </a:ext>
            </a:extLst>
          </p:cNvPr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Training Curves</a:t>
            </a:r>
            <a:endParaRPr lang="en-US" sz="1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2B30DD-8FB3-77C3-03BC-D6E4F5C32568}"/>
              </a:ext>
            </a:extLst>
          </p:cNvPr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 from plot_results.py  ·  logs/runs/&lt;run&gt;/plots/</a:t>
            </a:r>
            <a:endParaRPr lang="en-US" sz="9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1018E7-EBC4-15B8-C65B-A6C3AB8CCB26}"/>
              </a:ext>
            </a:extLst>
          </p:cNvPr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10048E5-2E81-1243-8891-14D80A7F0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6927"/>
            <a:ext cx="9144000" cy="4511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581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Policy Behavior Analysis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Policy Learned (from Evaluation Data)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Results  3/4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85660" y="38026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874166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01168" y="658368"/>
            <a:ext cx="8741664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29184" y="749808"/>
            <a:ext cx="8485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DDQN Policy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" y="1042416"/>
            <a:ext cx="8485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Completes 5/5 orders in 2 out of 3 seeds (seeds 1234, 1235), finishing in 69 and 48 steps respectively — far faster than max_steps=600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329184" y="1289304"/>
            <a:ext cx="8485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Seed 1236 hit a harder 10-order scenario at max_steps, yielding negative reward (−670) — shows DQN still struggles with long-horizon multi-order completions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329184" y="1536192"/>
            <a:ext cx="8485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Avg 100 collisions per episode: agents pursue deliveries aggressively without coordinating dock access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329184" y="1783080"/>
            <a:ext cx="8485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0.67 charge visits avg: DQN learned basic battery management — avoids empty events in most seeds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329184" y="2029968"/>
            <a:ext cx="8485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Order cycle time 64 steps: DQN completes deliveries ~4× faster than the episode length suggests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01168" y="2444497"/>
            <a:ext cx="4821936" cy="2394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01168" y="2442669"/>
            <a:ext cx="4821936" cy="45719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29184" y="251460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Policy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9184" y="2828545"/>
            <a:ext cx="4593336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Completes only 0.33 avg deliveries: heuristic lacks look-ahead and cannot handle order queue growth from task injection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29184" y="3075432"/>
            <a:ext cx="4663440" cy="29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0.33 collisions avg: very safe routing but at the cost of throughput — greedy defers to WAIT when blocked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329184" y="3340608"/>
            <a:ext cx="4821936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Never reaches a charger (0 charge visits): battery drain not a concern at 600 steps with 280 capacity for 3 agents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329184" y="3569209"/>
            <a:ext cx="4943856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Stuck at max_steps on all 3 seeds: never completes all orders — greedy order assignment is suboptimal for dynamic queues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5036820" y="2431084"/>
            <a:ext cx="4041648" cy="2340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023104" y="2442669"/>
            <a:ext cx="4041648" cy="45719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183124" y="2469489"/>
            <a:ext cx="1080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Policy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20640" y="2883255"/>
            <a:ext cx="3663696" cy="403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0 deliveries across all 3 seeds: confirms that the warehouse task is non-trivial — random actions cannot navigate to rack AND goal</a:t>
            </a:r>
          </a:p>
          <a:p>
            <a:pPr marL="0" indent="0">
              <a:buNone/>
            </a:pP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5093970" y="3229508"/>
            <a:ext cx="3777996" cy="30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623 avg collisions: random policy hits walls and other agents constantly — environment is dense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5093208" y="3681831"/>
            <a:ext cx="4041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Consistent negative reward (−1654 ± 45): low variance shows environment is deterministic given seed — reproducibility confirmed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5093208" y="4049573"/>
            <a:ext cx="4041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Confirms that DQN's 83% completion rate is genuinely learned </a:t>
            </a:r>
            <a:r>
              <a:rPr lang="en-US" sz="820" dirty="0" err="1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Smoke Training Metrics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12-Episode Smoke Run  (seed=42, config.smoke.yaml)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Results  4/4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556025"/>
              </p:ext>
            </p:extLst>
          </p:nvPr>
        </p:nvGraphicFramePr>
        <p:xfrm>
          <a:off x="1511808" y="722071"/>
          <a:ext cx="5852160" cy="243230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Epsilon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-153.3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exploration — ε=1.0, all random actions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-145.5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Slight improvement — replay buffer filling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-168.0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decreasing (0.085) — network beginning to learn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-164.2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Collisions persist — agent not yet learning navigation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-127.6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episode — progress shaping starts to guide movement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-166.8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in rewards — exploration still dominant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1511808" y="3397301"/>
            <a:ext cx="585216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1511808" y="3394253"/>
            <a:ext cx="5852160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1658112" y="3503981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Run Interpretation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658112" y="377830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0 deliveries in 12 episodes is EXPECTED — smoke config has max_steps=120 and a smaller grid. DQN needs 100s of episodes to fill replay and learn navigation.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658112" y="403433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Loss drops from ~0.28 (ep1) to ~0.059 (ep12): network IS learning; Q-values updating.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658112" y="429036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Epsilon decays from 1.0 to 0.976: 2.4% exploration covered — correct decay rate for smoke config.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658112" y="454639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Episode 11 best (−127.6): progress shaping reward starting to accumulate — agent moving toward targets.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Decisions — Rationale &amp; Evidence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Hyperparameter Tuning  1/2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" y="658368"/>
          <a:ext cx="8741664" cy="4206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6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Tried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Rationale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decay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– 0.9995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→ premature exploitation by ep 300. 0.9995 → no convergence by ep 3000. 0.9985 gives ~1400 exploration episodes on 5×7.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reward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20 / 32 / 50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&lt;20 makes delivery too weak vs step penalty total (−7.2). &gt;40 destabilises Q-values via large TD error spikes.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update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steps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/ 300 / 1000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→ unstable targets. 1000 → stale bootstrap. 300 balances both for this env size.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dims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[256,128,64]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[128,64] / [256,128,64] / [512,256,128]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[128,64] underfit 57-dim obs. [512,256,128] slows CPU convergence significantly. [256,128,64] balanced.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64 / 128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too noisy with sparse delivery rewards. 128 diminishing returns. 64 optimal.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(discount)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 / 0.97 / 0.99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overvalues distant deliveries causing policy to wait. 0.95 too myopic for cross-grid navigation.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 weight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/ +0.6 / +1.0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&lt;0.4 insufficient to guide navigation. &gt;0.8 causes oscillation at target boundary.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Move-away penalty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 / −1.2 / −2.0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 insufficient to stop backtracking. −2.0 penalises early exploration too harshly.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bonus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/ 55 / 80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too weak vs individual delivery rewards. 80 causes Q instability on convergence.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Choice &amp; Architecture Justification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Hyperparameter Tuning  2/2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65233"/>
              </p:ext>
            </p:extLst>
          </p:nvPr>
        </p:nvGraphicFramePr>
        <p:xfrm>
          <a:off x="201168" y="658368"/>
          <a:ext cx="7827264" cy="246888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7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Weakness for TA-RWARE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DQN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discrete actions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Conflates V(s) and A(s,a) — poor in states with equal actions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 on-policy optimisation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Sample-hungry for CPU; needs many parallel envs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QMIX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CTDE MARL — explicit coordination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mixer; joint value fn machinery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work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IQL (Independent Q-learning)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multi-agent 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expressive; no V/A decomposition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Dueling DQN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V+A separation; reduces overestimation; off-policy efficient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learners — no explicit coordination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01168" y="3090672"/>
            <a:ext cx="8741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Dueling DQN for Warehouse Routing?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1168" y="3419856"/>
            <a:ext cx="43159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201168" y="3419856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329184" y="351129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V(s) captures state quality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9184" y="374904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warehouse states have similar action values — blocked corridor, charging cell, congested dock. V(s) correctly says 'this state is bad' without conflating it with which specific move is best.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681728" y="3419856"/>
            <a:ext cx="43159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4681728" y="3419856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4809744" y="351129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A(s,a) ranks actions given state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09744" y="374904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agent IS near its target, A(s,a) learns which direction reduces distance most — clean separation from whether the state is good.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201168" y="4133088"/>
            <a:ext cx="43159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201168" y="4133088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329184" y="422452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DDQN cuts overestimation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29184" y="446227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decoupled selection/evaluation, Q-values inflate for delivery states, leading the agent to circle near docks. DDQN targets stabilise this.</a:t>
            </a:r>
            <a:endParaRPr lang="en-US" sz="820" dirty="0"/>
          </a:p>
        </p:txBody>
      </p:sp>
      <p:sp>
        <p:nvSpPr>
          <p:cNvPr id="8" name="Shape 19"/>
          <p:cNvSpPr/>
          <p:nvPr/>
        </p:nvSpPr>
        <p:spPr>
          <a:xfrm>
            <a:off x="4681728" y="4133088"/>
            <a:ext cx="43159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681728" y="4133088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809744" y="422452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Off-policy = sample efficiency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809744" y="446227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buffer reuses past transitions. With 600-step episodes and a 30k buffer, DQN sees each transition ~5× — critical for CPU training.</a:t>
            </a:r>
            <a:endParaRPr lang="en-US" sz="8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What Worked Well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 That Paid Off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Reflection  1/2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58368"/>
            <a:ext cx="431596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01168" y="658368"/>
            <a:ext cx="4315968" cy="43891"/>
          </a:xfrm>
          <a:prstGeom prst="rect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10896" y="749808"/>
            <a:ext cx="256032" cy="256032"/>
          </a:xfrm>
          <a:prstGeom prst="roundRect">
            <a:avLst>
              <a:gd name="adj" fmla="val 178571"/>
            </a:avLst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10896" y="749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74980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Auto-Pickup / Auto-Drop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" y="1097280"/>
            <a:ext cx="4078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impactful single decision. Removing ACT action reduced the credit assignment horizon from O(episode²) to O(episode). Without it, DQN failed to deliver a single item even after 3000 episodes in prior experiments. The smoke run confirms agents begin learning within 12 eps with auto-transitions.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4681728" y="658368"/>
            <a:ext cx="431596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681728" y="658368"/>
            <a:ext cx="43159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791456" y="749808"/>
            <a:ext cx="256032" cy="256032"/>
          </a:xfrm>
          <a:prstGeom prst="roundRect">
            <a:avLst>
              <a:gd name="adj" fmla="val 178571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791456" y="749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120640" y="74980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Shaping (+0.6/unit)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9744" y="1097280"/>
            <a:ext cx="4078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reward guidance enabled agents to learn navigation even when delivery reward is rare. The asymmetric ratio (progress:penalty = 1:2) prevents agents from profiting from oscillation near the target boundary. The best_dist anchor ensures reward only fires on genuine progress, not repeated visits.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01168" y="2048256"/>
            <a:ext cx="431596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01168" y="2048256"/>
            <a:ext cx="4315968" cy="43891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10896" y="2139696"/>
            <a:ext cx="256032" cy="256032"/>
          </a:xfrm>
          <a:prstGeom prst="roundRect">
            <a:avLst>
              <a:gd name="adj" fmla="val 178571"/>
            </a:avLst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10896" y="2139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2139696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Emergency Override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9184" y="2487168"/>
            <a:ext cx="4078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DQN actions below 20% battery means agents never need to learn charging as a separate skill. This reduces the state-action space the DQN must cover. The charger-claim priority prevents fleet pile-up at a single charger — an engineering detail that stabilises the multi-agent dynamics.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4681728" y="2048256"/>
            <a:ext cx="431596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681728" y="2048256"/>
            <a:ext cx="4315968" cy="43891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791456" y="2139696"/>
            <a:ext cx="256032" cy="256032"/>
          </a:xfrm>
          <a:prstGeom prst="roundRect">
            <a:avLst>
              <a:gd name="adj" fmla="val 178571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791456" y="2139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0640" y="2139696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Seeding + Config Snapshot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9744" y="2487168"/>
            <a:ext cx="4078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 applies random.seed(42), np.random.seed(42), torch.manual_seed(42) and seeds each episode reset with seed+ep. Combined with config_snapshot.yaml, any run can be exactly reproduced. This is verified: two consecutive smoke runs produce byte-identical metrics.json.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201168" y="3438144"/>
            <a:ext cx="431596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201168" y="3438144"/>
            <a:ext cx="4315968" cy="43891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10896" y="3529584"/>
            <a:ext cx="256032" cy="256032"/>
          </a:xfrm>
          <a:prstGeom prst="roundRect">
            <a:avLst>
              <a:gd name="adj" fmla="val 178571"/>
            </a:avLst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10896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5295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+ Policy Comparison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9184" y="3877056"/>
            <a:ext cx="4078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three-policy comparison (run_analysis.bat) over deterministic seeds provides objective evidence that DQN learned useful behaviour. The dashboard makes this accessible: a grader can run the comparison themselves in &lt;30 seconds without modifying any code.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4681728" y="3438144"/>
            <a:ext cx="431596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681728" y="3438144"/>
            <a:ext cx="4315968" cy="43891"/>
          </a:xfrm>
          <a:prstGeom prst="rect">
            <a:avLst/>
          </a:prstGeom>
          <a:solidFill>
            <a:srgbClr val="6B8899"/>
          </a:solidFill>
          <a:ln w="12700">
            <a:solidFill>
              <a:srgbClr val="6B8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791456" y="3529584"/>
            <a:ext cx="256032" cy="256032"/>
          </a:xfrm>
          <a:prstGeom prst="roundRect">
            <a:avLst>
              <a:gd name="adj" fmla="val 178571"/>
            </a:avLst>
          </a:prstGeom>
          <a:solidFill>
            <a:srgbClr val="6B8899"/>
          </a:solidFill>
          <a:ln w="12700">
            <a:solidFill>
              <a:srgbClr val="6B8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791456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120640" y="35295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Suite (6 tests)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09744" y="3877056"/>
            <a:ext cx="4078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tests/test_environment.py catches regressions in observation bounds, battery drain, reset reproducibility, and auto-pickup logic. All 6 tests pass (verified via run_tests.bat). This is especially important given the complex multi-agent step() logic.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Limitations &amp; Future Scope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8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Self-Evaluation + Concrete Roadmap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Reflection  2/2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01168" y="65836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465275"/>
              </p:ext>
            </p:extLst>
          </p:nvPr>
        </p:nvGraphicFramePr>
        <p:xfrm>
          <a:off x="201168" y="969264"/>
          <a:ext cx="5074920" cy="208483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Impact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Fix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learners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avg collisions/ep — agents compete for dock access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QMIX / MAPPO centralised training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5×5 observation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 orders or chargers &gt; 2 cells away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GNN over full warehouse graph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grid layout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does not generalise to different warehouse sizes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randomisation during training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collision curriculum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learned reactively, not proactively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Safety-constrained RL or collision curriculum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run = 0 deliveries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12 episodes — not enough to learn; expected result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3000-ep run needed for convergence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0" y="658368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0" y="987552"/>
            <a:ext cx="3401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5486400" y="987552"/>
            <a:ext cx="3401568" cy="43891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5614416" y="107899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QMIX / MAPPO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14416" y="135331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joint Q-value decomposition for explicit team credit assignment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486400" y="1773936"/>
            <a:ext cx="3401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5486400" y="1773936"/>
            <a:ext cx="3401568" cy="43891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5614416" y="186537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Nets</a:t>
            </a:r>
            <a:endParaRPr lang="en-US" sz="1000" dirty="0"/>
          </a:p>
        </p:txBody>
      </p:sp>
      <p:sp>
        <p:nvSpPr>
          <p:cNvPr id="9" name="Text 21"/>
          <p:cNvSpPr/>
          <p:nvPr/>
        </p:nvSpPr>
        <p:spPr>
          <a:xfrm>
            <a:off x="5614416" y="2139696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over full warehouse topology for global state encoding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486400" y="2560320"/>
            <a:ext cx="3401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3"/>
          <p:cNvSpPr/>
          <p:nvPr/>
        </p:nvSpPr>
        <p:spPr>
          <a:xfrm>
            <a:off x="5486400" y="2560320"/>
            <a:ext cx="3401568" cy="43891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5614416" y="2651760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Replay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614416" y="29260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for rare delivery/battery-empty event oversampling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486400" y="3299155"/>
            <a:ext cx="3401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5486400" y="3299155"/>
            <a:ext cx="3401568" cy="43891"/>
          </a:xfrm>
          <a:prstGeom prst="rect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5614416" y="3390595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RL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614416" y="3664915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Pareto-optimise throughput, energy, and hardware wear simultaneously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47472" y="822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47472" y="822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F4F7F9"/>
          </a:solidFill>
          <a:ln w="12700">
            <a:solidFill>
              <a:srgbClr val="D0E4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498348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TA-RWARE  |  References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503920" y="49834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7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00994"/>
              </p:ext>
            </p:extLst>
          </p:nvPr>
        </p:nvGraphicFramePr>
        <p:xfrm>
          <a:off x="201168" y="658368"/>
          <a:ext cx="8302753" cy="4224528"/>
        </p:xfrm>
        <a:graphic>
          <a:graphicData uri="http://schemas.openxmlformats.org/drawingml/2006/table">
            <a:tbl>
              <a:tblPr/>
              <a:tblGrid>
                <a:gridCol w="296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542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1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Citation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V. Mnih et al. "Human-Level Control through Deep Reinforcement Learning."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518, 529–533, 2015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Z. Wang et al. "Dueling Network Architectures for Deep Reinforcement Learning."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ICML 2016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H. van Hasselt et al. "Deep Reinforcement Learning with Double Q-Learning."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AAAI 2016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Schaul et al. "Prioritized Experience Replay."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ICLR 2016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 Christianos et al. "Shared Experience Actor-Critic for Multi-Agent RL."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2020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G. Papoudakis et al. "Benchmarking MARL Algorithms in Cooperative Tasks."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D&amp;B 2021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Krnjaic et al. "Scalable MARL for Warehouse Logistics with Robotic &amp; Human Co-Workers."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 2022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P. Gankin et al. "Multi-Agent DQN for AGV Routing in Modular Manufacturing."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Front. Robotics AI 2022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H. Hu et al. "Toward Energy-Efficient Routing of Multiple AGVs with MARL."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MDPI/PMC 2023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 Löffler et al. "Picker Routing in AGV-Assisted Order Picking Systems."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INFORMS J. Comp. 2022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5889</Words>
  <Application>Microsoft Office PowerPoint</Application>
  <PresentationFormat>On-screen Show (16:9)</PresentationFormat>
  <Paragraphs>855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TALASU SAI SWAROOP-[BL.EN.U4AID23051]</cp:lastModifiedBy>
  <cp:revision>10</cp:revision>
  <dcterms:created xsi:type="dcterms:W3CDTF">2026-05-13T04:13:57Z</dcterms:created>
  <dcterms:modified xsi:type="dcterms:W3CDTF">2026-05-14T03:41:25Z</dcterms:modified>
</cp:coreProperties>
</file>